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2"/>
  </p:notesMasterIdLst>
  <p:sldIdLst>
    <p:sldId id="256" r:id="rId2"/>
    <p:sldId id="262" r:id="rId3"/>
    <p:sldId id="317" r:id="rId4"/>
    <p:sldId id="334" r:id="rId5"/>
    <p:sldId id="335" r:id="rId6"/>
    <p:sldId id="371" r:id="rId7"/>
    <p:sldId id="373" r:id="rId8"/>
    <p:sldId id="372" r:id="rId9"/>
    <p:sldId id="370" r:id="rId10"/>
    <p:sldId id="336" r:id="rId11"/>
    <p:sldId id="359" r:id="rId12"/>
    <p:sldId id="379" r:id="rId13"/>
    <p:sldId id="365" r:id="rId14"/>
    <p:sldId id="337" r:id="rId15"/>
    <p:sldId id="360" r:id="rId16"/>
    <p:sldId id="361" r:id="rId17"/>
    <p:sldId id="367" r:id="rId18"/>
    <p:sldId id="374" r:id="rId19"/>
    <p:sldId id="375" r:id="rId20"/>
    <p:sldId id="363" r:id="rId21"/>
    <p:sldId id="348" r:id="rId22"/>
    <p:sldId id="376" r:id="rId23"/>
    <p:sldId id="380" r:id="rId24"/>
    <p:sldId id="381" r:id="rId25"/>
    <p:sldId id="382" r:id="rId26"/>
    <p:sldId id="383" r:id="rId27"/>
    <p:sldId id="368" r:id="rId28"/>
    <p:sldId id="385" r:id="rId29"/>
    <p:sldId id="386" r:id="rId30"/>
    <p:sldId id="384" r:id="rId31"/>
    <p:sldId id="387" r:id="rId32"/>
    <p:sldId id="388" r:id="rId33"/>
    <p:sldId id="377" r:id="rId34"/>
    <p:sldId id="378" r:id="rId35"/>
    <p:sldId id="327" r:id="rId36"/>
    <p:sldId id="364" r:id="rId37"/>
    <p:sldId id="349" r:id="rId38"/>
    <p:sldId id="321" r:id="rId39"/>
    <p:sldId id="350" r:id="rId40"/>
    <p:sldId id="353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2D1F"/>
    <a:srgbClr val="000066"/>
    <a:srgbClr val="0000CC"/>
    <a:srgbClr val="FF6699"/>
    <a:srgbClr val="003300"/>
    <a:srgbClr val="FFFF00"/>
    <a:srgbClr val="66CCFF"/>
    <a:srgbClr val="A50021"/>
    <a:srgbClr val="003399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7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30:38.7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23540,'1258'0'0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30:41.7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 0 24575,'0'3'0,"-2"4"0,-1 4 0,0 3 0,-2-2 0,0 2 0,-1-2 0,-2-2 0,-2-1 0,-2-2 0,0-2 0,-1-2 0,-1-1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30:44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30:44.3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E3B2F-057D-4A8D-A8E1-E88D63456BD3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AFC0C-7CE4-4638-A536-7365364957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2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2440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 dirty="0">
              <a:latin typeface="Garamond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841856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Garamond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2063463"/>
            <a:ext cx="9021537" cy="1527349"/>
          </a:xfrm>
          <a:prstGeom prst="rect">
            <a:avLst/>
          </a:prstGeom>
          <a:solidFill>
            <a:srgbClr val="003300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2003565"/>
            <a:ext cx="9021537" cy="45720"/>
          </a:xfrm>
          <a:prstGeom prst="rect">
            <a:avLst/>
          </a:prstGeom>
          <a:solidFill>
            <a:srgbClr val="A50021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04" y="145241"/>
            <a:ext cx="1280160" cy="8249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62931" y="3604457"/>
            <a:ext cx="9021537" cy="45720"/>
          </a:xfrm>
          <a:prstGeom prst="rect">
            <a:avLst/>
          </a:prstGeom>
          <a:solidFill>
            <a:srgbClr val="A50021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201978"/>
            <a:ext cx="8229600" cy="1188720"/>
          </a:xfrm>
        </p:spPr>
        <p:txBody>
          <a:bodyPr anchor="ctr"/>
          <a:lstStyle>
            <a:lvl1pPr algn="ctr">
              <a:defRPr lang="en-US" b="0" dirty="0">
                <a:solidFill>
                  <a:srgbClr val="FFFF00"/>
                </a:solidFill>
                <a:latin typeface="Georgia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7872" y="97214"/>
            <a:ext cx="7132320" cy="1005840"/>
          </a:xfrm>
        </p:spPr>
        <p:txBody>
          <a:bodyPr anchor="ctr">
            <a:normAutofit/>
          </a:bodyPr>
          <a:lstStyle>
            <a:lvl1pPr>
              <a:defRPr sz="3400" b="1">
                <a:solidFill>
                  <a:srgbClr val="00B050"/>
                </a:solidFill>
                <a:latin typeface="Garamond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41464" y="6341378"/>
            <a:ext cx="1463040" cy="365760"/>
          </a:xfrm>
        </p:spPr>
        <p:txBody>
          <a:bodyPr/>
          <a:lstStyle>
            <a:lvl1pPr>
              <a:defRPr sz="1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2024-25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328" y="6349624"/>
            <a:ext cx="2011680" cy="365760"/>
          </a:xfrm>
        </p:spPr>
        <p:txBody>
          <a:bodyPr/>
          <a:lstStyle>
            <a:lvl1pPr>
              <a:defRPr sz="1200" i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Dept. of E&amp;TC, SCOE, Pune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00896" y="6346780"/>
            <a:ext cx="365760" cy="365760"/>
          </a:xfrm>
        </p:spPr>
        <p:txBody>
          <a:bodyPr/>
          <a:lstStyle>
            <a:lvl1pPr>
              <a:defRPr sz="1200">
                <a:latin typeface="Cambria Math" pitchFamily="18" charset="0"/>
                <a:ea typeface="Cambria Math" pitchFamily="18" charset="0"/>
              </a:defRPr>
            </a:lvl1pPr>
          </a:lstStyle>
          <a:p>
            <a:fld id="{6F42FDE4-A7DD-41A7-A0A6-9B649FB433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0112" y="1485126"/>
            <a:ext cx="8869680" cy="4754880"/>
          </a:xfrm>
        </p:spPr>
        <p:txBody>
          <a:bodyPr vert="horz"/>
          <a:lstStyle>
            <a:lvl1pPr algn="just">
              <a:spcBef>
                <a:spcPts val="600"/>
              </a:spcBef>
              <a:spcAft>
                <a:spcPts val="600"/>
              </a:spcAft>
              <a:defRPr sz="2800" b="0">
                <a:solidFill>
                  <a:schemeClr val="tx1"/>
                </a:solidFill>
                <a:latin typeface="Book Antiqua" pitchFamily="18" charset="0"/>
              </a:defRPr>
            </a:lvl1pPr>
            <a:lvl2pPr algn="just">
              <a:spcBef>
                <a:spcPts val="600"/>
              </a:spcBef>
              <a:spcAft>
                <a:spcPts val="600"/>
              </a:spcAft>
              <a:defRPr sz="2600">
                <a:solidFill>
                  <a:schemeClr val="tx1"/>
                </a:solidFill>
                <a:latin typeface="Book Antiqua" pitchFamily="18" charset="0"/>
              </a:defRPr>
            </a:lvl2pPr>
            <a:lvl3pPr algn="just"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defRPr sz="2400">
                <a:latin typeface="Book Antiqua" pitchFamily="18" charset="0"/>
              </a:defRPr>
            </a:lvl3pPr>
            <a:lvl4pPr algn="just">
              <a:spcBef>
                <a:spcPts val="600"/>
              </a:spcBef>
              <a:spcAft>
                <a:spcPts val="600"/>
              </a:spcAft>
              <a:buClr>
                <a:srgbClr val="FF0066"/>
              </a:buClr>
              <a:defRPr>
                <a:latin typeface="Book Antiqua" pitchFamily="18" charset="0"/>
              </a:defRPr>
            </a:lvl4pPr>
            <a:lvl5pPr algn="just">
              <a:spcBef>
                <a:spcPts val="600"/>
              </a:spcBef>
              <a:spcAft>
                <a:spcPts val="600"/>
              </a:spcAft>
              <a:buClr>
                <a:srgbClr val="FF6699"/>
              </a:buClr>
              <a:defRPr sz="1800">
                <a:latin typeface="Book Antiqua" pitchFamily="18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0" y="254424"/>
            <a:ext cx="1188720" cy="764901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67918" y="1195360"/>
            <a:ext cx="9006840" cy="91440"/>
          </a:xfrm>
          <a:prstGeom prst="rect">
            <a:avLst/>
          </a:prstGeom>
          <a:solidFill>
            <a:srgbClr val="000066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3780624" y="6351896"/>
            <a:ext cx="2194560" cy="365760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l" defTabSz="914400" rtl="0" eaLnBrk="1" latinLnBrk="0" hangingPunct="1">
              <a:defRPr kumimoji="0" sz="1200" i="1" kern="120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TE - E&amp;TC (Mini – Project)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5A8F90-0A20-69B5-6617-B25AA22DA30D}"/>
              </a:ext>
            </a:extLst>
          </p:cNvPr>
          <p:cNvSpPr/>
          <p:nvPr userDrawn="1"/>
        </p:nvSpPr>
        <p:spPr>
          <a:xfrm>
            <a:off x="3780624" y="6438332"/>
            <a:ext cx="1888656" cy="1910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2023-24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r>
              <a:rPr lang="en-US" dirty="0"/>
              <a:t>2024-25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kumimoji="0" lang="en-US" sz="1400" dirty="0">
                <a:solidFill>
                  <a:schemeClr val="tx2"/>
                </a:solidFill>
              </a:rPr>
              <a:t>Dept. of E&amp;TC, SCOE, Pune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940991" y="3924754"/>
            <a:ext cx="7262018" cy="172850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6400" b="1" dirty="0">
                <a:solidFill>
                  <a:srgbClr val="002060"/>
                </a:solidFill>
                <a:latin typeface="Book Antiqua" panose="02040602050305030304" pitchFamily="18" charset="0"/>
              </a:rPr>
              <a:t>By</a:t>
            </a:r>
            <a:endParaRPr lang="en-US" sz="42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pPr algn="l"/>
            <a:endParaRPr lang="en-US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pPr algn="l"/>
            <a:r>
              <a:rPr lang="en-IN" sz="96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Vyankatesh </a:t>
            </a:r>
            <a:r>
              <a:rPr lang="en-IN" sz="9600" b="1" dirty="0" err="1">
                <a:latin typeface="Book Antiqua" panose="02040602050305030304" pitchFamily="18" charset="0"/>
                <a:cs typeface="Times New Roman" panose="02020603050405020304" pitchFamily="18" charset="0"/>
              </a:rPr>
              <a:t>Nilkanth</a:t>
            </a:r>
            <a:r>
              <a:rPr lang="en-IN" sz="96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 Vibhute	B400230748</a:t>
            </a:r>
            <a:endParaRPr lang="en-IN" sz="9600" b="1" dirty="0">
              <a:latin typeface="Book Antiqua" panose="0204060205030503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en-IN" sz="9600" b="1" dirty="0">
                <a:latin typeface="Book Antiqua" panose="02040602050305030304" pitchFamily="18" charset="0"/>
                <a:cs typeface="Times New Roman" panose="02020603050405020304" pitchFamily="18" charset="0"/>
                <a:sym typeface="+mn-ea"/>
              </a:rPr>
              <a:t>Rushikesh </a:t>
            </a:r>
            <a:r>
              <a:rPr lang="en-IN" sz="9600" b="1" dirty="0" err="1">
                <a:latin typeface="Book Antiqua" panose="02040602050305030304" pitchFamily="18" charset="0"/>
                <a:cs typeface="Times New Roman" panose="02020603050405020304" pitchFamily="18" charset="0"/>
                <a:sym typeface="+mn-ea"/>
              </a:rPr>
              <a:t>Balasaheb</a:t>
            </a:r>
            <a:r>
              <a:rPr lang="en-IN" sz="9600" b="1" dirty="0">
                <a:latin typeface="Book Antiqua" panose="02040602050305030304" pitchFamily="18" charset="0"/>
                <a:cs typeface="Times New Roman" panose="02020603050405020304" pitchFamily="18" charset="0"/>
                <a:sym typeface="+mn-ea"/>
              </a:rPr>
              <a:t> Wakde	</a:t>
            </a:r>
            <a:r>
              <a:rPr lang="en-IN" sz="96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B400230753</a:t>
            </a:r>
          </a:p>
          <a:p>
            <a:pPr algn="l"/>
            <a:r>
              <a:rPr lang="en-IN" sz="96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Shravani Shrimant </a:t>
            </a:r>
            <a:r>
              <a:rPr lang="en-IN" sz="9600" b="1" dirty="0" err="1">
                <a:latin typeface="Book Antiqua" panose="02040602050305030304" pitchFamily="18" charset="0"/>
                <a:cs typeface="Times New Roman" panose="02020603050405020304" pitchFamily="18" charset="0"/>
              </a:rPr>
              <a:t>Yewale</a:t>
            </a:r>
            <a:r>
              <a:rPr lang="en-US" sz="9600" b="1" dirty="0">
                <a:latin typeface="Book Antiqua" panose="0204060205030503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IN" sz="96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B400230762</a:t>
            </a:r>
            <a:endParaRPr lang="en-US" sz="9600" b="1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1" dirty="0">
                <a:solidFill>
                  <a:srgbClr val="002060"/>
                </a:solidFill>
                <a:latin typeface="Book Antiqua" panose="02040602050305030304" pitchFamily="18" charset="0"/>
              </a:rPr>
              <a:t>	</a:t>
            </a:r>
            <a:endParaRPr lang="en-US" sz="2800" b="1" i="1" dirty="0">
              <a:solidFill>
                <a:srgbClr val="0066FF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59927" y="2148840"/>
            <a:ext cx="8224145" cy="12801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b="1" dirty="0">
                <a:latin typeface="Book Antiqua" panose="02040602050305030304" pitchFamily="18" charset="0"/>
                <a:cs typeface="Times New Roman" panose="02020603050405020304" pitchFamily="18" charset="0"/>
                <a:sym typeface="+mn-ea"/>
              </a:rPr>
              <a:t>Automatic Vehicle Entry Control System using Image Processing</a:t>
            </a:r>
            <a:endParaRPr lang="en-US" sz="3200" b="1" dirty="0">
              <a:latin typeface="Book Antiqua" panose="02040602050305030304" pitchFamily="18" charset="0"/>
            </a:endParaRPr>
          </a:p>
        </p:txBody>
      </p:sp>
      <p:sp>
        <p:nvSpPr>
          <p:cNvPr id="4" name="Subtitle 1"/>
          <p:cNvSpPr txBox="1">
            <a:spLocks/>
          </p:cNvSpPr>
          <p:nvPr/>
        </p:nvSpPr>
        <p:spPr>
          <a:xfrm>
            <a:off x="1549024" y="186511"/>
            <a:ext cx="6675120" cy="1463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00FF"/>
                </a:solidFill>
                <a:latin typeface="Book Antiqua" panose="02040602050305030304" pitchFamily="18" charset="0"/>
              </a:rPr>
              <a:t>Sinhgad College of Engineering, Pune</a:t>
            </a:r>
          </a:p>
          <a:p>
            <a:r>
              <a:rPr lang="en-US" dirty="0">
                <a:solidFill>
                  <a:srgbClr val="002060"/>
                </a:solidFill>
                <a:latin typeface="Book Antiqua" panose="02040602050305030304" pitchFamily="18" charset="0"/>
              </a:rPr>
              <a:t>Bachelor of Engineering</a:t>
            </a:r>
            <a:endParaRPr lang="en-US" b="1" dirty="0">
              <a:solidFill>
                <a:srgbClr val="0000FF"/>
              </a:solidFill>
              <a:latin typeface="Book Antiqua" panose="02040602050305030304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Book Antiqua" panose="02040602050305030304" pitchFamily="18" charset="0"/>
              </a:rPr>
              <a:t>Department of E&amp;TC</a:t>
            </a:r>
            <a:endParaRPr lang="en-US" dirty="0">
              <a:solidFill>
                <a:srgbClr val="002060"/>
              </a:solidFill>
              <a:latin typeface="Book Antiqua" panose="02040602050305030304" pitchFamily="18" charset="0"/>
            </a:endParaRPr>
          </a:p>
          <a:p>
            <a:endParaRPr lang="en-US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B2BE5ECC-F6EA-0942-B6E4-4E3712DB454D}"/>
              </a:ext>
            </a:extLst>
          </p:cNvPr>
          <p:cNvSpPr txBox="1">
            <a:spLocks/>
          </p:cNvSpPr>
          <p:nvPr/>
        </p:nvSpPr>
        <p:spPr>
          <a:xfrm>
            <a:off x="962126" y="5843489"/>
            <a:ext cx="5525760" cy="57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solidFill>
                  <a:srgbClr val="0000CC"/>
                </a:solidFill>
                <a:latin typeface="Book Antiqua" panose="02040602050305030304" pitchFamily="18" charset="0"/>
              </a:rPr>
              <a:t>Guide: Prof.(Mrs.) P.P. Gaikwad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D9614D35-6E5E-0575-8B02-92DA908B308D}"/>
              </a:ext>
            </a:extLst>
          </p:cNvPr>
          <p:cNvSpPr txBox="1">
            <a:spLocks/>
          </p:cNvSpPr>
          <p:nvPr/>
        </p:nvSpPr>
        <p:spPr>
          <a:xfrm>
            <a:off x="229155" y="1521465"/>
            <a:ext cx="2702731" cy="57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solidFill>
                  <a:srgbClr val="FF0000"/>
                </a:solidFill>
                <a:latin typeface="Book Antiqua" panose="02040602050305030304" pitchFamily="18" charset="0"/>
              </a:rPr>
              <a:t>Group No: D37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52552590-2F88-4A62-A7DE-3A9FC2E40BF8}"/>
              </a:ext>
            </a:extLst>
          </p:cNvPr>
          <p:cNvSpPr txBox="1">
            <a:spLocks/>
          </p:cNvSpPr>
          <p:nvPr/>
        </p:nvSpPr>
        <p:spPr>
          <a:xfrm>
            <a:off x="5164013" y="6223944"/>
            <a:ext cx="3888000" cy="57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rgbClr val="C00000"/>
                </a:solidFill>
                <a:latin typeface="Book Antiqua" panose="02040602050305030304" pitchFamily="18" charset="0"/>
              </a:rPr>
              <a:t>2024-25</a:t>
            </a:r>
          </a:p>
        </p:txBody>
      </p:sp>
    </p:spTree>
    <p:extLst>
      <p:ext uri="{BB962C8B-B14F-4D97-AF65-F5344CB8AC3E}">
        <p14:creationId xmlns:p14="http://schemas.microsoft.com/office/powerpoint/2010/main" val="3953349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Contents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726948" y="1525449"/>
            <a:ext cx="7690104" cy="4401779"/>
          </a:xfrm>
        </p:spPr>
        <p:txBody>
          <a:bodyPr numCol="2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Problem Statement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Aim &amp; Objective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Literature Survey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Block Diagram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Flow Chart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Selection Criteria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Components with Specifications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Future Scope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62853-2992-D67C-4C79-594A2EBF5E6A}"/>
              </a:ext>
            </a:extLst>
          </p:cNvPr>
          <p:cNvSpPr/>
          <p:nvPr/>
        </p:nvSpPr>
        <p:spPr>
          <a:xfrm>
            <a:off x="3694176" y="6419088"/>
            <a:ext cx="2011680" cy="219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19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Introduction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2C04187-F9D9-1F25-01FC-952DF649B7E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723328" y="2117657"/>
            <a:ext cx="7635875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The Automatic Vehicle Entry Access Control System leverages advanced image processing and OCR techniques for real-time license plate recognition. This technology replaces manual checks, improving accuracy and efficiency in various applications like toll collection and security access.</a:t>
            </a:r>
          </a:p>
          <a:p>
            <a:r>
              <a:rPr lang="en-US" sz="1800" b="1" dirty="0"/>
              <a:t>Key Features: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OCR (</a:t>
            </a:r>
            <a:r>
              <a:rPr lang="en-IN" sz="1800" dirty="0"/>
              <a:t>Optical Character Recognition)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Real-time Image Processing of Vehicle Plate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MySQL Database for Secure 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388955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4321" y="94090"/>
            <a:ext cx="7132320" cy="100584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A6C5B68-AD8F-BD7A-DFBC-83F0B53F522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573773" y="2456209"/>
            <a:ext cx="799645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/>
              <a:t>Challenges in Vehicle Access Control: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344600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Aim &amp; Objectives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698510" y="1683468"/>
            <a:ext cx="7746979" cy="4058964"/>
          </a:xfrm>
        </p:spPr>
        <p:txBody>
          <a:bodyPr>
            <a:noAutofit/>
          </a:bodyPr>
          <a:lstStyle/>
          <a:p>
            <a:pPr algn="l"/>
            <a:r>
              <a:rPr lang="en-US" sz="1800" b="1" dirty="0"/>
              <a:t>Aim:</a:t>
            </a:r>
          </a:p>
          <a:p>
            <a:pPr lvl="1"/>
            <a:r>
              <a:rPr lang="en-US" sz="1800" dirty="0"/>
              <a:t>To automate vehicle entry control using </a:t>
            </a:r>
            <a:r>
              <a:rPr lang="en-US" sz="1800" dirty="0">
                <a:solidFill>
                  <a:srgbClr val="FF0000"/>
                </a:solidFill>
              </a:rPr>
              <a:t>image processing </a:t>
            </a:r>
            <a:r>
              <a:rPr lang="en-US" sz="1800" dirty="0"/>
              <a:t>for license plate verification.</a:t>
            </a:r>
          </a:p>
          <a:p>
            <a:r>
              <a:rPr lang="en-US" sz="1800" b="1" dirty="0"/>
              <a:t>Objectives: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To </a:t>
            </a:r>
            <a:r>
              <a:rPr lang="en-US" sz="1800" dirty="0">
                <a:solidFill>
                  <a:srgbClr val="FF0000"/>
                </a:solidFill>
              </a:rPr>
              <a:t>automate</a:t>
            </a:r>
            <a:r>
              <a:rPr lang="en-US" sz="1800" dirty="0"/>
              <a:t> toll collection through efficient image processing.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To Enhance </a:t>
            </a:r>
            <a:r>
              <a:rPr lang="en-US" sz="1800" dirty="0">
                <a:solidFill>
                  <a:srgbClr val="FF0000"/>
                </a:solidFill>
              </a:rPr>
              <a:t>security</a:t>
            </a:r>
            <a:r>
              <a:rPr lang="en-US" sz="1800" dirty="0"/>
              <a:t> 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To get </a:t>
            </a:r>
            <a:r>
              <a:rPr lang="en-US" sz="1800" dirty="0">
                <a:solidFill>
                  <a:srgbClr val="FF0000"/>
                </a:solidFill>
              </a:rPr>
              <a:t>Accuracy</a:t>
            </a:r>
            <a:r>
              <a:rPr lang="en-US" sz="1800" dirty="0"/>
              <a:t> and Reliability for real-time operations.</a:t>
            </a:r>
          </a:p>
        </p:txBody>
      </p:sp>
    </p:spTree>
    <p:extLst>
      <p:ext uri="{BB962C8B-B14F-4D97-AF65-F5344CB8AC3E}">
        <p14:creationId xmlns:p14="http://schemas.microsoft.com/office/powerpoint/2010/main" val="2405832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5D6A-7E87-1E3C-E257-91C9A881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Literature</a:t>
            </a:r>
            <a:r>
              <a:rPr lang="en-US" sz="3000" dirty="0">
                <a:latin typeface="Book Antiqua" panose="02040602050305030304" pitchFamily="18" charset="0"/>
              </a:rPr>
              <a:t> </a:t>
            </a:r>
            <a:r>
              <a:rPr lang="en-US" sz="3600" dirty="0">
                <a:latin typeface="Book Antiqua" panose="02040602050305030304" pitchFamily="18" charset="0"/>
              </a:rPr>
              <a:t>Survey</a:t>
            </a:r>
            <a:endParaRPr lang="en-IN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51111-792C-D6FC-9761-711215EB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CA769-8102-5C63-C89F-6E8B105C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74A96-9355-D8DF-58DC-AFF76DDA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090636-F6BC-0236-944A-BAE49C08648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958113249"/>
              </p:ext>
            </p:extLst>
          </p:nvPr>
        </p:nvGraphicFramePr>
        <p:xfrm>
          <a:off x="169027" y="1749104"/>
          <a:ext cx="8805945" cy="30250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0735">
                  <a:extLst>
                    <a:ext uri="{9D8B030D-6E8A-4147-A177-3AD203B41FA5}">
                      <a16:colId xmlns:a16="http://schemas.microsoft.com/office/drawing/2014/main" val="2665586456"/>
                    </a:ext>
                  </a:extLst>
                </a:gridCol>
                <a:gridCol w="1674243">
                  <a:extLst>
                    <a:ext uri="{9D8B030D-6E8A-4147-A177-3AD203B41FA5}">
                      <a16:colId xmlns:a16="http://schemas.microsoft.com/office/drawing/2014/main" val="4143455347"/>
                    </a:ext>
                  </a:extLst>
                </a:gridCol>
                <a:gridCol w="1438820">
                  <a:extLst>
                    <a:ext uri="{9D8B030D-6E8A-4147-A177-3AD203B41FA5}">
                      <a16:colId xmlns:a16="http://schemas.microsoft.com/office/drawing/2014/main" val="172145869"/>
                    </a:ext>
                  </a:extLst>
                </a:gridCol>
                <a:gridCol w="3122355">
                  <a:extLst>
                    <a:ext uri="{9D8B030D-6E8A-4147-A177-3AD203B41FA5}">
                      <a16:colId xmlns:a16="http://schemas.microsoft.com/office/drawing/2014/main" val="947351396"/>
                    </a:ext>
                  </a:extLst>
                </a:gridCol>
                <a:gridCol w="2079792">
                  <a:extLst>
                    <a:ext uri="{9D8B030D-6E8A-4147-A177-3AD203B41FA5}">
                      <a16:colId xmlns:a16="http://schemas.microsoft.com/office/drawing/2014/main" val="560744477"/>
                    </a:ext>
                  </a:extLst>
                </a:gridCol>
              </a:tblGrid>
              <a:tr h="683321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RESEARCH 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006819"/>
                  </a:ext>
                </a:extLst>
              </a:tr>
              <a:tr h="2341756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Book Antiqua" panose="02040602050305030304" pitchFamily="18" charset="0"/>
                        </a:rPr>
                        <a:t>1</a:t>
                      </a:r>
                      <a:r>
                        <a:rPr lang="en-IN" sz="1600" dirty="0">
                          <a:latin typeface="Book Antiqua" panose="0204060205030503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Book Antiqua" panose="02040602050305030304" pitchFamily="18" charset="0"/>
                        </a:rPr>
                        <a:t>Automatic Gate Opening System</a:t>
                      </a:r>
                    </a:p>
                    <a:p>
                      <a:pPr algn="just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ea typeface="+mn-ea"/>
                          <a:cs typeface="Times New Roman" panose="02020603050405020304" pitchFamily="18" charset="0"/>
                        </a:rPr>
                        <a:t>(April, 2024)</a:t>
                      </a:r>
                      <a:endParaRPr kumimoji="0" lang="en-IN" sz="1600" kern="1200" dirty="0">
                        <a:solidFill>
                          <a:schemeClr val="dk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Pooja Gaikwad</a:t>
                      </a:r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algn="just"/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600" b="1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Work Done </a:t>
                      </a: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- Developed an Automatic Gate Opening System. Uses sensors to automatically open gates based on predefined conditions.</a:t>
                      </a:r>
                    </a:p>
                    <a:p>
                      <a:pPr algn="just"/>
                      <a:r>
                        <a:rPr kumimoji="0" lang="en-US" sz="1600" b="1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Gaps Identified </a:t>
                      </a: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There is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latin typeface="Book Antiqua" panose="02040602050305030304" pitchFamily="18" charset="0"/>
                        </a:rPr>
                        <a:t>Security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 concern with this system.</a:t>
                      </a:r>
                      <a:endParaRPr kumimoji="0" lang="en-US" sz="1600" kern="1200" dirty="0">
                        <a:solidFill>
                          <a:schemeClr val="dk1"/>
                        </a:solidFill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Can be expanded for Smart Access Control System.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Potential applications in parking systems and automated entry for residential or industrial settings</a:t>
                      </a:r>
                      <a:endParaRPr kumimoji="0" lang="en-IN" sz="1600" kern="1200" dirty="0">
                        <a:solidFill>
                          <a:schemeClr val="dk1"/>
                        </a:solidFill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56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30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A3EE-BB06-3B5E-14EC-52D30427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4F2E-2C8B-041E-4F8A-F845F1C8F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Literature</a:t>
            </a:r>
            <a:r>
              <a:rPr lang="en-US" sz="3000" dirty="0">
                <a:latin typeface="Book Antiqua" panose="02040602050305030304" pitchFamily="18" charset="0"/>
              </a:rPr>
              <a:t> </a:t>
            </a:r>
            <a:r>
              <a:rPr lang="en-US" sz="3600" dirty="0">
                <a:latin typeface="Book Antiqua" panose="02040602050305030304" pitchFamily="18" charset="0"/>
              </a:rPr>
              <a:t>Survey</a:t>
            </a:r>
            <a:endParaRPr lang="en-IN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71AFC-C8C8-86C3-9BCB-1291CF6D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626ED-A336-7078-6DFA-97FB7138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4D711-AB26-B49A-08B0-D45843A4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D61ACF5-3BD6-64BE-8B62-2BC776BAE58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7572268"/>
              </p:ext>
            </p:extLst>
          </p:nvPr>
        </p:nvGraphicFramePr>
        <p:xfrm>
          <a:off x="169027" y="1749104"/>
          <a:ext cx="8805945" cy="32131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0735">
                  <a:extLst>
                    <a:ext uri="{9D8B030D-6E8A-4147-A177-3AD203B41FA5}">
                      <a16:colId xmlns:a16="http://schemas.microsoft.com/office/drawing/2014/main" val="2665586456"/>
                    </a:ext>
                  </a:extLst>
                </a:gridCol>
                <a:gridCol w="1674243">
                  <a:extLst>
                    <a:ext uri="{9D8B030D-6E8A-4147-A177-3AD203B41FA5}">
                      <a16:colId xmlns:a16="http://schemas.microsoft.com/office/drawing/2014/main" val="4143455347"/>
                    </a:ext>
                  </a:extLst>
                </a:gridCol>
                <a:gridCol w="1438820">
                  <a:extLst>
                    <a:ext uri="{9D8B030D-6E8A-4147-A177-3AD203B41FA5}">
                      <a16:colId xmlns:a16="http://schemas.microsoft.com/office/drawing/2014/main" val="172145869"/>
                    </a:ext>
                  </a:extLst>
                </a:gridCol>
                <a:gridCol w="3122355">
                  <a:extLst>
                    <a:ext uri="{9D8B030D-6E8A-4147-A177-3AD203B41FA5}">
                      <a16:colId xmlns:a16="http://schemas.microsoft.com/office/drawing/2014/main" val="947351396"/>
                    </a:ext>
                  </a:extLst>
                </a:gridCol>
                <a:gridCol w="2079792">
                  <a:extLst>
                    <a:ext uri="{9D8B030D-6E8A-4147-A177-3AD203B41FA5}">
                      <a16:colId xmlns:a16="http://schemas.microsoft.com/office/drawing/2014/main" val="560744477"/>
                    </a:ext>
                  </a:extLst>
                </a:gridCol>
              </a:tblGrid>
              <a:tr h="683321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RESEARCH 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Book Antiqua" panose="02040602050305030304" pitchFamily="18" charset="0"/>
                        </a:rPr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006819"/>
                  </a:ext>
                </a:extLst>
              </a:tr>
              <a:tr h="2341756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Book Antiqua" panose="02040602050305030304" pitchFamily="18" charset="0"/>
                        </a:rPr>
                        <a:t>2</a:t>
                      </a:r>
                      <a:r>
                        <a:rPr lang="en-IN" sz="1600" dirty="0">
                          <a:latin typeface="Book Antiqua" panose="0204060205030503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Book Antiqua" panose="02040602050305030304" pitchFamily="18" charset="0"/>
                        </a:rPr>
                        <a:t>Vehicle Number </a:t>
                      </a: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Plate Detection System Using Image Processing 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Approach</a:t>
                      </a:r>
                    </a:p>
                    <a:p>
                      <a:pPr algn="just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ea typeface="+mn-ea"/>
                          <a:cs typeface="Times New Roman" panose="02020603050405020304" pitchFamily="18" charset="0"/>
                        </a:rPr>
                        <a:t>(8 July, 2023)</a:t>
                      </a:r>
                      <a:endParaRPr kumimoji="0" lang="en-IN" sz="1600" kern="1200" dirty="0">
                        <a:solidFill>
                          <a:schemeClr val="dk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NI Tushar</a:t>
                      </a:r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algn="just"/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dirty="0">
                          <a:latin typeface="Book Antiqua" panose="02040602050305030304" pitchFamily="18" charset="0"/>
                        </a:rPr>
                        <a:t>Work done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 – Vehicle Number Plate is detected and Text is recognized.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dirty="0">
                          <a:latin typeface="Book Antiqua" panose="02040602050305030304" pitchFamily="18" charset="0"/>
                        </a:rPr>
                        <a:t>Technology used - 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Automatic Number Plate Recognition (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Book Antiqua" panose="02040602050305030304" pitchFamily="18" charset="0"/>
                        </a:rPr>
                        <a:t>ANPR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) image processing technology that uses a vehicle's license plate to identify it</a:t>
                      </a:r>
                      <a:endParaRPr lang="en-US" sz="1600" b="1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Book Antiqua" panose="02040602050305030304" pitchFamily="18" charset="0"/>
                        </a:rPr>
                        <a:t>ANPR process can be used for Toll Collection and Vehicle entry control system to recognize the user owning number plate have sufficient balance to pay toll fee automatically.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56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330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5D6A-7E87-1E3C-E257-91C9A881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Literature</a:t>
            </a:r>
            <a:r>
              <a:rPr lang="en-US" sz="3000" dirty="0"/>
              <a:t> </a:t>
            </a:r>
            <a:r>
              <a:rPr lang="en-US" sz="3600" dirty="0"/>
              <a:t>Survey</a:t>
            </a:r>
            <a:endParaRPr lang="en-IN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51111-792C-D6FC-9761-711215EB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2023-24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CA769-8102-5C63-C89F-6E8B105C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74A96-9355-D8DF-58DC-AFF76DDA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090636-F6BC-0236-944A-BAE49C08648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23682423"/>
              </p:ext>
            </p:extLst>
          </p:nvPr>
        </p:nvGraphicFramePr>
        <p:xfrm>
          <a:off x="130192" y="1374016"/>
          <a:ext cx="8883615" cy="47589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5063">
                  <a:extLst>
                    <a:ext uri="{9D8B030D-6E8A-4147-A177-3AD203B41FA5}">
                      <a16:colId xmlns:a16="http://schemas.microsoft.com/office/drawing/2014/main" val="2665586456"/>
                    </a:ext>
                  </a:extLst>
                </a:gridCol>
                <a:gridCol w="1689010">
                  <a:extLst>
                    <a:ext uri="{9D8B030D-6E8A-4147-A177-3AD203B41FA5}">
                      <a16:colId xmlns:a16="http://schemas.microsoft.com/office/drawing/2014/main" val="4143455347"/>
                    </a:ext>
                  </a:extLst>
                </a:gridCol>
                <a:gridCol w="1451511">
                  <a:extLst>
                    <a:ext uri="{9D8B030D-6E8A-4147-A177-3AD203B41FA5}">
                      <a16:colId xmlns:a16="http://schemas.microsoft.com/office/drawing/2014/main" val="172145869"/>
                    </a:ext>
                  </a:extLst>
                </a:gridCol>
                <a:gridCol w="3149895">
                  <a:extLst>
                    <a:ext uri="{9D8B030D-6E8A-4147-A177-3AD203B41FA5}">
                      <a16:colId xmlns:a16="http://schemas.microsoft.com/office/drawing/2014/main" val="947351396"/>
                    </a:ext>
                  </a:extLst>
                </a:gridCol>
                <a:gridCol w="2098136">
                  <a:extLst>
                    <a:ext uri="{9D8B030D-6E8A-4147-A177-3AD203B41FA5}">
                      <a16:colId xmlns:a16="http://schemas.microsoft.com/office/drawing/2014/main" val="560744477"/>
                    </a:ext>
                  </a:extLst>
                </a:gridCol>
              </a:tblGrid>
              <a:tr h="850553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RESEARCH 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006819"/>
                  </a:ext>
                </a:extLst>
              </a:tr>
              <a:tr h="150322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ook Antiqua" panose="02040602050305030304" pitchFamily="18" charset="0"/>
                        </a:rPr>
                        <a:t>An IOT-Based Automotive and Intelligent Toll Gate Using RFID</a:t>
                      </a:r>
                    </a:p>
                    <a:p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Book Antiqua" panose="02040602050305030304" pitchFamily="18" charset="0"/>
                          <a:ea typeface="+mn-ea"/>
                          <a:cs typeface="Times New Roman" panose="02020603050405020304" pitchFamily="18" charset="0"/>
                        </a:rPr>
                        <a:t>(15 Dec, 2022)</a:t>
                      </a:r>
                      <a:endParaRPr kumimoji="0" lang="en-IN" sz="1400" kern="1200" dirty="0">
                        <a:solidFill>
                          <a:schemeClr val="dk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S.Chandrappa, Etal.</a:t>
                      </a:r>
                      <a:endParaRPr lang="en-IN" sz="1400" dirty="0">
                        <a:latin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Work done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 - A toll collection system that is based on 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  <a:latin typeface="Book Antiqua" panose="02040602050305030304" pitchFamily="18" charset="0"/>
                        </a:rPr>
                        <a:t>RFID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 technology was built with the help of the Raspberry Pi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Gap Identified – 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There is more time complexity in the process. 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Automation in Toll collection and vehicle entry-exit control is very much efficient way to reduce traffic and secure way in itself.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569810"/>
                  </a:ext>
                </a:extLst>
              </a:tr>
              <a:tr h="2405155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IN" sz="14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Automated Gate for Vehicular Entry Using Image Processing (Mar, 2020)</a:t>
                      </a:r>
                      <a:endParaRPr kumimoji="0" lang="en-IN" sz="1400" kern="1200" dirty="0">
                        <a:solidFill>
                          <a:schemeClr val="dk1"/>
                        </a:solidFill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Saurabh Charde,</a:t>
                      </a:r>
                    </a:p>
                    <a:p>
                      <a:r>
                        <a:rPr lang="en-IN" sz="1400" dirty="0">
                          <a:latin typeface="Book Antiqua" panose="02040602050305030304" pitchFamily="18" charset="0"/>
                          <a:cs typeface="Times New Roman" panose="02020603050405020304" pitchFamily="18" charset="0"/>
                        </a:rPr>
                        <a:t>Etal.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Work done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 – The image processed and recognized using Optical Character Recognition (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  <a:latin typeface="Book Antiqua" panose="02040602050305030304" pitchFamily="18" charset="0"/>
                        </a:rPr>
                        <a:t>OCR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) through Tesseract and OpenCV libraries in Python.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Technology used – 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Machine Learning and Image Processing techniques through 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  <a:latin typeface="Book Antiqua" panose="02040602050305030304" pitchFamily="18" charset="0"/>
                        </a:rPr>
                        <a:t>OpenCV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 and Tesseract libraries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fontAlgn="base"/>
                      <a:r>
                        <a:rPr lang="en-US" sz="1400" dirty="0">
                          <a:latin typeface="Book Antiqua" panose="02040602050305030304" pitchFamily="18" charset="0"/>
                        </a:rPr>
                        <a:t>For instance, by integrating the system with a centralized database, the vehicle’s number plate can be processed to track entries.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953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0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5D6A-7E87-1E3C-E257-91C9A8819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Literature</a:t>
            </a:r>
            <a:r>
              <a:rPr lang="en-US" sz="3000" dirty="0">
                <a:latin typeface="Book Antiqua" panose="02040602050305030304" pitchFamily="18" charset="0"/>
              </a:rPr>
              <a:t> </a:t>
            </a:r>
            <a:r>
              <a:rPr lang="en-US" sz="3600" dirty="0">
                <a:latin typeface="Book Antiqua" panose="02040602050305030304" pitchFamily="18" charset="0"/>
              </a:rPr>
              <a:t>Survey</a:t>
            </a:r>
            <a:endParaRPr lang="en-IN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51111-792C-D6FC-9761-711215EB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2023-24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CA769-8102-5C63-C89F-6E8B105C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74A96-9355-D8DF-58DC-AFF76DDA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090636-F6BC-0236-944A-BAE49C08648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83120968"/>
              </p:ext>
            </p:extLst>
          </p:nvPr>
        </p:nvGraphicFramePr>
        <p:xfrm>
          <a:off x="118736" y="1295276"/>
          <a:ext cx="8906527" cy="48930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6340">
                  <a:extLst>
                    <a:ext uri="{9D8B030D-6E8A-4147-A177-3AD203B41FA5}">
                      <a16:colId xmlns:a16="http://schemas.microsoft.com/office/drawing/2014/main" val="2665586456"/>
                    </a:ext>
                  </a:extLst>
                </a:gridCol>
                <a:gridCol w="1693366">
                  <a:extLst>
                    <a:ext uri="{9D8B030D-6E8A-4147-A177-3AD203B41FA5}">
                      <a16:colId xmlns:a16="http://schemas.microsoft.com/office/drawing/2014/main" val="4143455347"/>
                    </a:ext>
                  </a:extLst>
                </a:gridCol>
                <a:gridCol w="1455254">
                  <a:extLst>
                    <a:ext uri="{9D8B030D-6E8A-4147-A177-3AD203B41FA5}">
                      <a16:colId xmlns:a16="http://schemas.microsoft.com/office/drawing/2014/main" val="172145869"/>
                    </a:ext>
                  </a:extLst>
                </a:gridCol>
                <a:gridCol w="3158019">
                  <a:extLst>
                    <a:ext uri="{9D8B030D-6E8A-4147-A177-3AD203B41FA5}">
                      <a16:colId xmlns:a16="http://schemas.microsoft.com/office/drawing/2014/main" val="947351396"/>
                    </a:ext>
                  </a:extLst>
                </a:gridCol>
                <a:gridCol w="2103548">
                  <a:extLst>
                    <a:ext uri="{9D8B030D-6E8A-4147-A177-3AD203B41FA5}">
                      <a16:colId xmlns:a16="http://schemas.microsoft.com/office/drawing/2014/main" val="560744477"/>
                    </a:ext>
                  </a:extLst>
                </a:gridCol>
              </a:tblGrid>
              <a:tr h="61175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RESEARCH 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Book Antiqua" panose="02040602050305030304" pitchFamily="18" charset="0"/>
                        </a:rPr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006819"/>
                  </a:ext>
                </a:extLst>
              </a:tr>
              <a:tr h="209649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ook Antiqua" panose="02040602050305030304" pitchFamily="18" charset="0"/>
                        </a:rPr>
                        <a:t>Automated License Plate Recognition using Different Camera Angles</a:t>
                      </a:r>
                      <a:endParaRPr kumimoji="0" lang="en-IN" sz="1400" kern="1200" dirty="0">
                        <a:solidFill>
                          <a:schemeClr val="dk1"/>
                        </a:solidFill>
                        <a:effectLst/>
                        <a:latin typeface="Book Antiqua" panose="0204060205030503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Andre Calitz, Etal.</a:t>
                      </a:r>
                      <a:endParaRPr lang="en-IN" sz="1400" dirty="0">
                        <a:latin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Work done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 - providing real-time tracking and alerts with minimal human intervention.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Gap Identified – 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hindered by environmental factors like poor lighting and weather conditions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ook Antiqua" panose="02040602050305030304" pitchFamily="18" charset="0"/>
                        </a:rPr>
                        <a:t>The system's accuracy can be improved further by using machine learning models to handle environmental variations like poor lighting or bad weather. 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569810"/>
                  </a:ext>
                </a:extLst>
              </a:tr>
              <a:tr h="2184838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6</a:t>
                      </a:r>
                      <a:r>
                        <a:rPr lang="en-IN" sz="1400">
                          <a:latin typeface="Book Antiqua" panose="02040602050305030304" pitchFamily="18" charset="0"/>
                        </a:rPr>
                        <a:t>.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ook Antiqua" panose="02040602050305030304" pitchFamily="18" charset="0"/>
                        </a:rPr>
                        <a:t>Image Recognition Technology Based on Machine Learning (2017)</a:t>
                      </a:r>
                      <a:endParaRPr lang="en-IN" sz="1400" dirty="0">
                        <a:latin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Book Antiqua" panose="02040602050305030304" pitchFamily="18" charset="0"/>
                        </a:rPr>
                        <a:t>Lijuan Liu,</a:t>
                      </a:r>
                    </a:p>
                    <a:p>
                      <a:r>
                        <a:rPr lang="en-IN" sz="1400" dirty="0">
                          <a:latin typeface="Book Antiqua" panose="02040602050305030304" pitchFamily="18" charset="0"/>
                          <a:cs typeface="Times New Roman" panose="02020603050405020304" pitchFamily="18" charset="0"/>
                        </a:rPr>
                        <a:t>Etal.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Work done</a:t>
                      </a:r>
                      <a:r>
                        <a:rPr lang="en-US" sz="1400" dirty="0">
                          <a:latin typeface="Book Antiqua" panose="02040602050305030304" pitchFamily="18" charset="0"/>
                        </a:rPr>
                        <a:t> – Image has been processed and recognized using machine learning.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latin typeface="Book Antiqua" panose="02040602050305030304" pitchFamily="18" charset="0"/>
                        </a:rPr>
                        <a:t>Technology used – </a:t>
                      </a:r>
                      <a:r>
                        <a:rPr lang="en-US" sz="1400" b="0" dirty="0">
                          <a:latin typeface="Book Antiqua" panose="02040602050305030304" pitchFamily="18" charset="0"/>
                        </a:rPr>
                        <a:t>Machine Learning is used to process an image and recognize its naming or behaviour.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  <a:p>
                      <a:pPr lvl="0" fontAlgn="base"/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fontAlgn="base"/>
                      <a:r>
                        <a:rPr lang="en-US" sz="1400" dirty="0">
                          <a:latin typeface="Book Antiqua" panose="02040602050305030304" pitchFamily="18" charset="0"/>
                        </a:rPr>
                        <a:t>This process can be integrated with various automation system such as Toll collection. By processing image of Number plate, authority can charge toll fee contact free.</a:t>
                      </a:r>
                      <a:endParaRPr lang="en-IN" sz="1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953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26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Block Diagram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1DAFD40-718C-2E93-0A72-CF5C1E00E81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16" y="1485900"/>
            <a:ext cx="8452556" cy="4754563"/>
          </a:xfrm>
        </p:spPr>
      </p:pic>
    </p:spTree>
    <p:extLst>
      <p:ext uri="{BB962C8B-B14F-4D97-AF65-F5344CB8AC3E}">
        <p14:creationId xmlns:p14="http://schemas.microsoft.com/office/powerpoint/2010/main" val="128264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Block Diagram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5A0B7A-E572-3C39-DEF7-B37DC4B94DB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84" y="1485900"/>
            <a:ext cx="7646231" cy="4754563"/>
          </a:xfrm>
        </p:spPr>
      </p:pic>
    </p:spTree>
    <p:extLst>
      <p:ext uri="{BB962C8B-B14F-4D97-AF65-F5344CB8AC3E}">
        <p14:creationId xmlns:p14="http://schemas.microsoft.com/office/powerpoint/2010/main" val="174085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1D90-189B-540E-EFA3-F5D77E58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FAE0-3418-0B70-20DD-C5DFCDEA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Flowchart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28C1E-D2BD-9BC8-55E4-80AF1788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D9341-F799-6A3A-8609-8E11A0D4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ACD0B-F405-7A3A-2373-8A51A809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A28B1F-29F1-E3EA-76FF-9146BDC02B5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498" y="1485900"/>
            <a:ext cx="3171991" cy="4754563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0E6F21-BF9F-29F2-4993-787408B90F7B}"/>
                  </a:ext>
                </a:extLst>
              </p14:cNvPr>
              <p14:cNvContentPartPr/>
              <p14:nvPr/>
            </p14:nvContentPartPr>
            <p14:xfrm>
              <a:off x="4307021" y="6053987"/>
              <a:ext cx="4528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0E6F21-BF9F-29F2-4993-787408B90F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4021" y="5928707"/>
                <a:ext cx="5785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12F5CA-A3AF-3ED3-7339-372788A217F6}"/>
                  </a:ext>
                </a:extLst>
              </p14:cNvPr>
              <p14:cNvContentPartPr/>
              <p14:nvPr/>
            </p14:nvContentPartPr>
            <p14:xfrm>
              <a:off x="4818221" y="6044627"/>
              <a:ext cx="38160" cy="4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12F5CA-A3AF-3ED3-7339-372788A217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5581" y="5981627"/>
                <a:ext cx="16380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1B4AC70-A032-9E5C-8D30-E91947179AB2}"/>
              </a:ext>
            </a:extLst>
          </p:cNvPr>
          <p:cNvGrpSpPr/>
          <p:nvPr/>
        </p:nvGrpSpPr>
        <p:grpSpPr>
          <a:xfrm>
            <a:off x="4355261" y="6106907"/>
            <a:ext cx="360" cy="360"/>
            <a:chOff x="4355261" y="610690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5284E3-D8D5-C543-737C-68915A055A33}"/>
                    </a:ext>
                  </a:extLst>
                </p14:cNvPr>
                <p14:cNvContentPartPr/>
                <p14:nvPr/>
              </p14:nvContentPartPr>
              <p14:xfrm>
                <a:off x="4355261" y="6106907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5284E3-D8D5-C543-737C-68915A055A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92261" y="604426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8625BB-A198-D97E-93FE-40306453FFE8}"/>
                    </a:ext>
                  </a:extLst>
                </p14:cNvPr>
                <p14:cNvContentPartPr/>
                <p14:nvPr/>
              </p14:nvContentPartPr>
              <p14:xfrm>
                <a:off x="4355261" y="6106907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8625BB-A198-D97E-93FE-40306453FFE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92261" y="604426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EF07194-1049-8F0C-E934-590A77AA65D1}"/>
              </a:ext>
            </a:extLst>
          </p:cNvPr>
          <p:cNvSpPr txBox="1"/>
          <p:nvPr/>
        </p:nvSpPr>
        <p:spPr>
          <a:xfrm>
            <a:off x="4249554" y="5893954"/>
            <a:ext cx="798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Rounded MT Bold" panose="020F0704030504030204" pitchFamily="34" charset="0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380421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0B9B-5BF7-D687-1B6B-7B119F54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Selection Criteria of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B8E1F-51B7-05C3-E357-0A97A0A7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7A9960-B2EA-3CD5-E95A-DC438ED0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11228-F96B-22B8-6712-F58C37FB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F413B2C-BF77-1A71-EEDE-1B0FE7CEE9F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50112" y="1461908"/>
            <a:ext cx="887501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 </a:t>
            </a:r>
            <a:r>
              <a:rPr lang="en-US" altLang="en-US" sz="1800" b="1" dirty="0"/>
              <a:t>Microcontroller :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Must support camera modules and have Wi-Fi capability for database communication.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Sufficient to handle image processing and control tasks simultaneously.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GPIO Pins: Adequate pins to control motor drivers and interface with sensors.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Example: Raspberry Pi chosen for its Wi-Fi support and compatibility with Raspberry Pi-CAM.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 </a:t>
            </a:r>
            <a:r>
              <a:rPr lang="en-US" altLang="en-US" sz="1800" b="1" dirty="0"/>
              <a:t>Camera Sensor :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Resolution: Capable of capturing clear images of vehicle license plates.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Integration: Must be easily integrable with the selected microcontroller.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Example: Raspberry Pi-CAM for high compatibility and ease of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/>
              <a:t> </a:t>
            </a:r>
            <a:r>
              <a:rPr lang="en-US" altLang="en-US" sz="1800" b="1" dirty="0"/>
              <a:t>Motor and Driver :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Motor Type: DC motor for barrier control, suitable for continuous rotation.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Driver Capability: Ability to control motor direction and speed using the selected microcontroller.</a:t>
            </a:r>
          </a:p>
          <a:p>
            <a:pPr marL="56007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/>
              <a:t>Example: L298N motor driver for its compatibility with Raspberry Pi and ability to control the motor.</a:t>
            </a:r>
          </a:p>
        </p:txBody>
      </p:sp>
    </p:spTree>
    <p:extLst>
      <p:ext uri="{BB962C8B-B14F-4D97-AF65-F5344CB8AC3E}">
        <p14:creationId xmlns:p14="http://schemas.microsoft.com/office/powerpoint/2010/main" val="3805702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Components with Specifications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698510" y="1869962"/>
            <a:ext cx="7746979" cy="4754880"/>
          </a:xfrm>
        </p:spPr>
        <p:txBody>
          <a:bodyPr numCol="2">
            <a:noAutofit/>
          </a:bodyPr>
          <a:lstStyle/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/>
              <a:t>Processor</a:t>
            </a:r>
            <a:r>
              <a:rPr lang="en-IN" sz="1800" dirty="0"/>
              <a:t>: 1.2 GHz 64-bit quad-core ARM Cortex-A53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/>
              <a:t>RAM</a:t>
            </a:r>
            <a:r>
              <a:rPr lang="en-IN" sz="1800" dirty="0"/>
              <a:t>: 1 GB LPDDR2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/>
              <a:t>Connectivity</a:t>
            </a:r>
            <a:r>
              <a:rPr lang="en-IN" sz="1800" dirty="0"/>
              <a:t>: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/>
              <a:t>Wi-Fi: 802.11n Wireless LAN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/>
              <a:t>Bluetooth: Bluetooth 4.1, Bluetooth Low Energy (BLE)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/>
              <a:t>Ports</a:t>
            </a:r>
            <a:r>
              <a:rPr lang="en-IN" sz="1800" dirty="0"/>
              <a:t>: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/>
              <a:t>USB: 4 x USB 2.0 ports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/>
              <a:t>HDMI: Full-size HDMI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dirty="0"/>
              <a:t>GPIO: 40-pin GPIO header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dirty="0"/>
              <a:t>Camera</a:t>
            </a:r>
            <a:r>
              <a:rPr lang="en-IN" sz="1800" dirty="0"/>
              <a:t>: 15-pin MIPI CSI connector for camera modules</a:t>
            </a:r>
          </a:p>
          <a:p>
            <a:pPr marL="742950" lvl="1" indent="-285750" algn="just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dirty="0"/>
              <a:t>Display</a:t>
            </a:r>
            <a:r>
              <a:rPr lang="en-IN" sz="1800" dirty="0"/>
              <a:t>: DSI display port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/>
              <a:t>Operating</a:t>
            </a:r>
            <a:r>
              <a:rPr lang="en-IN" sz="1800" dirty="0"/>
              <a:t> </a:t>
            </a:r>
            <a:r>
              <a:rPr lang="en-IN" sz="1800" b="1" dirty="0"/>
              <a:t>System</a:t>
            </a:r>
            <a:r>
              <a:rPr lang="en-IN" sz="1800" dirty="0"/>
              <a:t>: Raspbian, Ubuntu, or other Linux-based OS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/>
              <a:t>Power</a:t>
            </a:r>
            <a:r>
              <a:rPr lang="en-IN" sz="1800" dirty="0"/>
              <a:t> </a:t>
            </a:r>
            <a:r>
              <a:rPr lang="en-IN" sz="1800" b="1" dirty="0"/>
              <a:t>Supply</a:t>
            </a:r>
            <a:r>
              <a:rPr lang="en-IN" sz="1800" dirty="0"/>
              <a:t>: 5V/2.5A micro USB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F349E-CE8F-C9F4-CD5A-C8B84239EB88}"/>
              </a:ext>
            </a:extLst>
          </p:cNvPr>
          <p:cNvSpPr txBox="1"/>
          <p:nvPr/>
        </p:nvSpPr>
        <p:spPr>
          <a:xfrm>
            <a:off x="723328" y="1410088"/>
            <a:ext cx="545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Book Antiqua" panose="02040602050305030304" pitchFamily="18" charset="0"/>
              </a:rPr>
              <a:t>1. </a:t>
            </a:r>
            <a:r>
              <a:rPr lang="en-US" b="1" dirty="0">
                <a:latin typeface="Book Antiqua" panose="02040602050305030304" pitchFamily="18" charset="0"/>
              </a:rPr>
              <a:t>Microcontroller</a:t>
            </a:r>
            <a:r>
              <a:rPr lang="en-US" sz="1800" b="1" dirty="0">
                <a:latin typeface="Book Antiqua" panose="02040602050305030304" pitchFamily="18" charset="0"/>
              </a:rPr>
              <a:t> : Raspberry Pi -</a:t>
            </a:r>
            <a:endParaRPr lang="en-IN" sz="1800" b="1" dirty="0"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78065-543B-F70A-1A72-E5478174B977}"/>
              </a:ext>
            </a:extLst>
          </p:cNvPr>
          <p:cNvSpPr txBox="1"/>
          <p:nvPr/>
        </p:nvSpPr>
        <p:spPr>
          <a:xfrm>
            <a:off x="4818888" y="4389120"/>
            <a:ext cx="3374136" cy="2235722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793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Components with Specifications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698510" y="1586498"/>
            <a:ext cx="7746979" cy="475488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/>
              <a:t>2</a:t>
            </a:r>
            <a:r>
              <a:rPr lang="en-US" sz="1800" dirty="0"/>
              <a:t>. </a:t>
            </a:r>
            <a:r>
              <a:rPr lang="en-US" sz="1800" b="1" dirty="0"/>
              <a:t>Camera Sensor : Raspberry Camera Module</a:t>
            </a:r>
          </a:p>
          <a:p>
            <a:pPr marL="0" lvl="0" indent="0">
              <a:lnSpc>
                <a:spcPct val="107000"/>
              </a:lnSpc>
              <a:buNone/>
            </a:pPr>
            <a:endParaRPr lang="en-IN" sz="1800" dirty="0"/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/>
              <a:t>Resolution</a:t>
            </a:r>
            <a:r>
              <a:rPr lang="en-IN" sz="2000" dirty="0"/>
              <a:t>: 8 or 12 megapixels (depending on the model)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/>
              <a:t>Sensor</a:t>
            </a:r>
            <a:r>
              <a:rPr lang="en-IN" sz="2000" dirty="0"/>
              <a:t>: Sony IMX219 (for the 8MP version), Sony IMX477 (for the 12MP HQ version)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/>
              <a:t>Video</a:t>
            </a:r>
            <a:r>
              <a:rPr lang="en-IN" sz="2000" dirty="0"/>
              <a:t>: Supports 1080p30, 720p60, and 640x480p90 video recording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/>
              <a:t>Connection</a:t>
            </a:r>
            <a:r>
              <a:rPr lang="en-IN" sz="2000" dirty="0"/>
              <a:t>: 15-pin ribbon cable for the CSI interface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/>
              <a:t>Lens</a:t>
            </a:r>
            <a:r>
              <a:rPr lang="en-IN" sz="2000" dirty="0"/>
              <a:t>: Fixed focus (8MP) or interchangeable lens (12MP HQ)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/>
              <a:t>Dimensions</a:t>
            </a:r>
            <a:r>
              <a:rPr lang="en-IN" sz="2000" dirty="0"/>
              <a:t>: Small form factor, compatible with Raspberry Pi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A2863-FAEA-2740-1492-EA85861F16F3}"/>
              </a:ext>
            </a:extLst>
          </p:cNvPr>
          <p:cNvSpPr txBox="1"/>
          <p:nvPr/>
        </p:nvSpPr>
        <p:spPr>
          <a:xfrm>
            <a:off x="7278624" y="1362456"/>
            <a:ext cx="1532625" cy="124358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47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Components with Specifications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26005" y="1586498"/>
            <a:ext cx="7746979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3</a:t>
            </a:r>
            <a:r>
              <a:rPr lang="en-US" sz="1800" b="1" dirty="0"/>
              <a:t>. Servo Motor</a:t>
            </a:r>
          </a:p>
          <a:p>
            <a:pPr marL="0" lvl="0" indent="0">
              <a:lnSpc>
                <a:spcPct val="107000"/>
              </a:lnSpc>
              <a:buNone/>
            </a:pPr>
            <a:endParaRPr lang="en-IN" sz="18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Torque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10–15 kg·cm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Speed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0.15 sec/60°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Operating Voltage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4.8V to 6V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Angle Range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0° to 180°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Current Draw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500 mA to 1.5 A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Control Signal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PWM (50 Hz)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1AA94-57BB-7040-9C2F-8B8E6518531D}"/>
              </a:ext>
            </a:extLst>
          </p:cNvPr>
          <p:cNvSpPr txBox="1"/>
          <p:nvPr/>
        </p:nvSpPr>
        <p:spPr>
          <a:xfrm>
            <a:off x="5354032" y="4248590"/>
            <a:ext cx="2290486" cy="160934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627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Components with Specifications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26005" y="1586498"/>
            <a:ext cx="7746979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4</a:t>
            </a:r>
            <a:r>
              <a:rPr lang="en-US" sz="1800" b="1" dirty="0"/>
              <a:t>. </a:t>
            </a:r>
            <a:r>
              <a:rPr lang="en-IN" sz="2400" b="1" dirty="0">
                <a:cs typeface="Times New Roman" panose="02020603050405020304" pitchFamily="18" charset="0"/>
              </a:rPr>
              <a:t>HC-SR04 Ultrasonic Sensor</a:t>
            </a:r>
            <a:endParaRPr lang="en-US" sz="2400" b="1" dirty="0"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/>
              <a:t>Operating Voltage: 5V DC</a:t>
            </a:r>
            <a:endParaRPr lang="en-IN" sz="1800" dirty="0"/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/>
              <a:t>Operating Current: 15mA</a:t>
            </a:r>
            <a:endParaRPr lang="en-IN" sz="1800" dirty="0"/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Measure Angle: 15°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Ultrasonic Frequency: 40kHz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Max Range: 4 meters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Min Range: 2 cm</a:t>
            </a:r>
          </a:p>
          <a:p>
            <a:r>
              <a:rPr lang="en-IN" sz="1800" dirty="0"/>
              <a:t>Accuracy: ±3 mm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DF958-D132-5C04-D391-01DFE85CB8A3}"/>
              </a:ext>
            </a:extLst>
          </p:cNvPr>
          <p:cNvSpPr txBox="1"/>
          <p:nvPr/>
        </p:nvSpPr>
        <p:spPr>
          <a:xfrm>
            <a:off x="5138928" y="2212848"/>
            <a:ext cx="3034056" cy="337413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417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A73C-499A-1986-E669-1D3796A0E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58AF-A460-3CA7-6479-F421BD34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Components with Specifications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30B57-64BC-181C-AFC2-5533EB4D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C1E07-5B6D-27C7-4B22-64BA8546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E3CE0-C496-A90D-C6C5-ED541AF3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DE429-DBAE-6F60-EEE4-1E250B9BFC6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6005" y="1586498"/>
            <a:ext cx="7746979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5</a:t>
            </a:r>
            <a:r>
              <a:rPr lang="en-US" sz="1800" b="1" dirty="0"/>
              <a:t>. </a:t>
            </a:r>
            <a:r>
              <a:rPr lang="en-IN" sz="2400" b="1" dirty="0">
                <a:cs typeface="Times New Roman" panose="02020603050405020304" pitchFamily="18" charset="0"/>
              </a:rPr>
              <a:t>Arduino UNO</a:t>
            </a:r>
            <a:endParaRPr lang="en-US" sz="2400" b="1" dirty="0"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/>
              <a:t>Operating Voltage: 5V DC</a:t>
            </a:r>
            <a:endParaRPr lang="en-IN" sz="1800" dirty="0"/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/>
              <a:t>Operating Current: 7-12 V</a:t>
            </a:r>
            <a:endParaRPr lang="en-IN" sz="1800" dirty="0"/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Digital I/O Pins: 14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Analog Input Pins: 6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Flash Memory: 32KB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Clock Speed: 16MHz</a:t>
            </a:r>
          </a:p>
        </p:txBody>
      </p:sp>
      <p:pic>
        <p:nvPicPr>
          <p:cNvPr id="7" name="Picture 6" descr="Arduino Uno">
            <a:extLst>
              <a:ext uri="{FF2B5EF4-FFF2-40B4-BE49-F238E27FC236}">
                <a16:creationId xmlns:a16="http://schemas.microsoft.com/office/drawing/2014/main" id="{06DC8E24-DA17-9281-334F-59A9B124B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989" y="2995246"/>
            <a:ext cx="2372995" cy="1937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7328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A64F-CF2B-7B83-4B63-6C9C4F948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72B1-AEF8-6C06-B71B-DCE7E9DE9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Components with Specifications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E182C-5173-671F-8E2A-DD1EF227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44BBA-B49C-F563-3896-DF4CCE51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BD133-4253-F59C-FC9E-06FB3880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D33A4-E348-AFC9-7088-7EC68962817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6005" y="1586498"/>
            <a:ext cx="7746979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6</a:t>
            </a:r>
            <a:r>
              <a:rPr lang="en-US" sz="1800" b="1" dirty="0"/>
              <a:t>. </a:t>
            </a:r>
            <a:r>
              <a:rPr lang="en-IN" sz="2400" b="1" dirty="0">
                <a:cs typeface="Times New Roman" panose="02020603050405020304" pitchFamily="18" charset="0"/>
              </a:rPr>
              <a:t>16x2 LCD</a:t>
            </a:r>
            <a:endParaRPr lang="en-US" sz="2400" b="1" dirty="0"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/>
              <a:t>Display Type: Alphanumerical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Characters: 16 characters per line, 2 lines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Operating Voltage: 4.7V to 5.3V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Backlight: LED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Interface: Parallel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/>
              <a:t>Character Size: ~5-8 pixel matrix per character</a:t>
            </a:r>
          </a:p>
        </p:txBody>
      </p:sp>
      <p:pic>
        <p:nvPicPr>
          <p:cNvPr id="7" name="Image 30" descr="A green rectangular electronic device">
            <a:extLst>
              <a:ext uri="{FF2B5EF4-FFF2-40B4-BE49-F238E27FC236}">
                <a16:creationId xmlns:a16="http://schemas.microsoft.com/office/drawing/2014/main" id="{D2232663-1123-5676-5FD0-EFEE84C0B31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91288" y="3027680"/>
            <a:ext cx="2263775" cy="80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66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Components with Specifications</a:t>
            </a:r>
            <a:endParaRPr lang="en-US" sz="36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26005" y="1586498"/>
            <a:ext cx="7746979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5</a:t>
            </a:r>
            <a:r>
              <a:rPr lang="en-US" sz="1800" b="1" dirty="0"/>
              <a:t>. Database : MySQL</a:t>
            </a:r>
          </a:p>
          <a:p>
            <a:pPr marL="0" lvl="0" indent="0">
              <a:lnSpc>
                <a:spcPct val="107000"/>
              </a:lnSpc>
              <a:buNone/>
            </a:pPr>
            <a:endParaRPr lang="en-IN" sz="1800" dirty="0"/>
          </a:p>
          <a:p>
            <a:pPr marL="457200">
              <a:lnSpc>
                <a:spcPct val="107000"/>
              </a:lnSpc>
            </a:pPr>
            <a:r>
              <a:rPr lang="en-IN" sz="1800" b="1" dirty="0"/>
              <a:t>Server</a:t>
            </a:r>
            <a:r>
              <a:rPr lang="en-IN" sz="1800" dirty="0"/>
              <a:t>: MySQL 5.7 or above</a:t>
            </a:r>
          </a:p>
          <a:p>
            <a:pPr marL="457200">
              <a:lnSpc>
                <a:spcPct val="107000"/>
              </a:lnSpc>
            </a:pPr>
            <a:r>
              <a:rPr lang="en-IN" sz="1800" b="1" dirty="0"/>
              <a:t>Database</a:t>
            </a:r>
            <a:r>
              <a:rPr lang="en-IN" sz="1800" dirty="0"/>
              <a:t> </a:t>
            </a:r>
            <a:r>
              <a:rPr lang="en-IN" sz="1800" b="1" dirty="0"/>
              <a:t>Size</a:t>
            </a:r>
            <a:r>
              <a:rPr lang="en-IN" sz="1800" dirty="0"/>
              <a:t>: Scalable based on storage (typically starts at 1 GB)</a:t>
            </a:r>
          </a:p>
          <a:p>
            <a:pPr marL="457200">
              <a:lnSpc>
                <a:spcPct val="107000"/>
              </a:lnSpc>
            </a:pPr>
            <a:r>
              <a:rPr lang="en-IN" sz="1800" b="1" dirty="0"/>
              <a:t>Connectivity</a:t>
            </a:r>
            <a:r>
              <a:rPr lang="en-IN" sz="1800" dirty="0"/>
              <a:t>: Wi-Fi (through Raspberry Pi to MySQL server)</a:t>
            </a:r>
          </a:p>
          <a:p>
            <a:pPr marL="457200">
              <a:lnSpc>
                <a:spcPct val="107000"/>
              </a:lnSpc>
            </a:pPr>
            <a:r>
              <a:rPr lang="en-IN" sz="1800" b="1" dirty="0"/>
              <a:t>Security</a:t>
            </a:r>
            <a:r>
              <a:rPr lang="en-IN" sz="1800" dirty="0"/>
              <a:t>: Supports SSL/TLS for encrypted communication</a:t>
            </a:r>
          </a:p>
          <a:p>
            <a:pPr marL="457200">
              <a:lnSpc>
                <a:spcPct val="107000"/>
              </a:lnSpc>
            </a:pPr>
            <a:r>
              <a:rPr lang="en-IN" sz="1800" b="1" dirty="0"/>
              <a:t>User</a:t>
            </a:r>
            <a:r>
              <a:rPr lang="en-IN" sz="1800" dirty="0"/>
              <a:t> </a:t>
            </a:r>
            <a:r>
              <a:rPr lang="en-IN" sz="1800" b="1" dirty="0"/>
              <a:t>Management</a:t>
            </a:r>
            <a:r>
              <a:rPr lang="en-IN" sz="1800" dirty="0"/>
              <a:t>: Multi-user support with role-based access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800" b="1" dirty="0"/>
              <a:t>Query</a:t>
            </a:r>
            <a:r>
              <a:rPr lang="en-IN" sz="1800" dirty="0"/>
              <a:t> </a:t>
            </a:r>
            <a:r>
              <a:rPr lang="en-IN" sz="1800" b="1" dirty="0"/>
              <a:t>Language</a:t>
            </a:r>
            <a:r>
              <a:rPr lang="en-IN" sz="1800" dirty="0"/>
              <a:t>: SQL (Structured Query Language)Data Types Supported: Integer, Varchar, Date-Time, etc.</a:t>
            </a:r>
          </a:p>
        </p:txBody>
      </p:sp>
    </p:spTree>
    <p:extLst>
      <p:ext uri="{BB962C8B-B14F-4D97-AF65-F5344CB8AC3E}">
        <p14:creationId xmlns:p14="http://schemas.microsoft.com/office/powerpoint/2010/main" val="775672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0485-45B7-49BE-9814-5D992A59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Simulation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7F611-4CDC-5AD2-825B-17CE5A29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41884-BAA3-14E4-0A5F-3910820D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F1BD3-8220-5547-DF43-0C47F9F0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E428D3-7F3D-65B7-77A8-AA0DE78FB90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56" y="1480994"/>
            <a:ext cx="6998487" cy="4695187"/>
          </a:xfrm>
        </p:spPr>
      </p:pic>
    </p:spTree>
    <p:extLst>
      <p:ext uri="{BB962C8B-B14F-4D97-AF65-F5344CB8AC3E}">
        <p14:creationId xmlns:p14="http://schemas.microsoft.com/office/powerpoint/2010/main" val="3363904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BAA7-C2CC-EAEE-20DA-1CAAAF7D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C964-9922-EFF9-2B95-5A54BB46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3479C-EE77-5336-2CC8-BA867828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4E7A6-7C25-AFA8-C7FD-980556D7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A3933-E457-47CB-333F-7FAEB195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DD9EC18-EDCE-0833-EDC5-A662C9BA92A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681" y="1664944"/>
            <a:ext cx="6348637" cy="468468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B2C2B7-12A1-8D28-6FA2-62E717596D97}"/>
              </a:ext>
            </a:extLst>
          </p:cNvPr>
          <p:cNvSpPr txBox="1"/>
          <p:nvPr/>
        </p:nvSpPr>
        <p:spPr>
          <a:xfrm>
            <a:off x="2285999" y="12956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Book Antiqua" panose="02040602050305030304" pitchFamily="18" charset="0"/>
              </a:rPr>
              <a:t>System Prototype in Action</a:t>
            </a:r>
          </a:p>
        </p:txBody>
      </p:sp>
    </p:spTree>
    <p:extLst>
      <p:ext uri="{BB962C8B-B14F-4D97-AF65-F5344CB8AC3E}">
        <p14:creationId xmlns:p14="http://schemas.microsoft.com/office/powerpoint/2010/main" val="3707773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E0DF0-8023-A6FC-622E-A7CF1AC6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15A3-D693-EAC0-6116-B207A7CB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4550E-9810-64B0-BA68-0C977B76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B4AA8-91FE-57CA-95C6-887C90FA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01CC8-635F-89A5-36D1-28B196FE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C1D98-6A09-ED54-AF51-0296E03B76CA}"/>
              </a:ext>
            </a:extLst>
          </p:cNvPr>
          <p:cNvSpPr txBox="1"/>
          <p:nvPr/>
        </p:nvSpPr>
        <p:spPr>
          <a:xfrm>
            <a:off x="639500" y="1307430"/>
            <a:ext cx="7864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Top View of the Smart Parking Prototype with Integrated Components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5764207-3C71-FA50-49BF-09E368D8841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221" y="1734313"/>
            <a:ext cx="6073553" cy="4557760"/>
          </a:xfrm>
        </p:spPr>
      </p:pic>
    </p:spTree>
    <p:extLst>
      <p:ext uri="{BB962C8B-B14F-4D97-AF65-F5344CB8AC3E}">
        <p14:creationId xmlns:p14="http://schemas.microsoft.com/office/powerpoint/2010/main" val="257997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BFBD-860A-2293-5BE1-8D6EDB69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BC55D-D802-98D6-0E3D-62D19995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6CB4E-5F12-457B-4C4F-9E3B2830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1C7B3-9FC5-2C84-365D-002DE4B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CF130-1E4E-7D35-ADAB-EF7D21B7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A23A50-3031-EC40-6DEE-F9B4AF3DCFB0}"/>
              </a:ext>
            </a:extLst>
          </p:cNvPr>
          <p:cNvSpPr txBox="1"/>
          <p:nvPr/>
        </p:nvSpPr>
        <p:spPr>
          <a:xfrm>
            <a:off x="937258" y="1307430"/>
            <a:ext cx="726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Number Plate Detection and Recognition Interface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06598B7-DFAC-66A7-3A00-448B6697DF8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67" y="1636301"/>
            <a:ext cx="8175862" cy="4753784"/>
          </a:xfrm>
        </p:spPr>
      </p:pic>
    </p:spTree>
    <p:extLst>
      <p:ext uri="{BB962C8B-B14F-4D97-AF65-F5344CB8AC3E}">
        <p14:creationId xmlns:p14="http://schemas.microsoft.com/office/powerpoint/2010/main" val="978379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407B0-084A-92A0-CDB1-A3AF78DA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2679-FA47-3611-3FEB-BE5D67CD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BD673-2CA2-BF62-AD12-76D9AA864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5B15C-9FDF-8A13-A810-E7AB5299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E8483-BF75-306C-7CA0-C3DB7C68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6D236-FB1F-0886-3FF7-29327122AE4B}"/>
              </a:ext>
            </a:extLst>
          </p:cNvPr>
          <p:cNvSpPr txBox="1"/>
          <p:nvPr/>
        </p:nvSpPr>
        <p:spPr>
          <a:xfrm>
            <a:off x="937258" y="1307430"/>
            <a:ext cx="726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Electronic Components and Circuitry Layout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946F0E0-0F0B-D578-D2A5-8B2C686B943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639" y="1777206"/>
            <a:ext cx="6064722" cy="4564172"/>
          </a:xfrm>
        </p:spPr>
      </p:pic>
    </p:spTree>
    <p:extLst>
      <p:ext uri="{BB962C8B-B14F-4D97-AF65-F5344CB8AC3E}">
        <p14:creationId xmlns:p14="http://schemas.microsoft.com/office/powerpoint/2010/main" val="1307411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8A0A-F11F-0FE2-617E-37307A159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D027-6417-A44E-A5DF-0D20C27B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8F296-EA4C-6568-1661-773F228C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643E7-D0F1-0712-3D7F-6DE72C3CA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AA999-0E5E-20ED-3C21-F6643B3F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E8265-86BB-E0AD-F28E-B95C534FC73A}"/>
              </a:ext>
            </a:extLst>
          </p:cNvPr>
          <p:cNvSpPr txBox="1"/>
          <p:nvPr/>
        </p:nvSpPr>
        <p:spPr>
          <a:xfrm>
            <a:off x="937258" y="1307430"/>
            <a:ext cx="726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Parking Slot Status Display on LCD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C293C0A-127A-6977-812B-983AD868AD3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062" y="1712968"/>
            <a:ext cx="6591872" cy="4636656"/>
          </a:xfrm>
        </p:spPr>
      </p:pic>
    </p:spTree>
    <p:extLst>
      <p:ext uri="{BB962C8B-B14F-4D97-AF65-F5344CB8AC3E}">
        <p14:creationId xmlns:p14="http://schemas.microsoft.com/office/powerpoint/2010/main" val="534471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0485-45B7-49BE-9814-5D992A59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dirty="0">
                <a:latin typeface="Book Antiqua" panose="02040602050305030304" pitchFamily="18" charset="0"/>
              </a:rPr>
              <a:t>Comparative Study with Existing Work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7F611-4CDC-5AD2-825B-17CE5A29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41884-BAA3-14E4-0A5F-3910820D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F1BD3-8220-5547-DF43-0C47F9F0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0F01AE7-23C6-40CC-BF12-EA01D41C1CD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22924200"/>
              </p:ext>
            </p:extLst>
          </p:nvPr>
        </p:nvGraphicFramePr>
        <p:xfrm>
          <a:off x="150813" y="1485900"/>
          <a:ext cx="8869360" cy="4598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872">
                  <a:extLst>
                    <a:ext uri="{9D8B030D-6E8A-4147-A177-3AD203B41FA5}">
                      <a16:colId xmlns:a16="http://schemas.microsoft.com/office/drawing/2014/main" val="1059224843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115333911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1866652000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2769010898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4032216929"/>
                    </a:ext>
                  </a:extLst>
                </a:gridCol>
              </a:tblGrid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Performance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381631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Pooja Gaik wad(2024)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Automatic Gate Opening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IR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ook Antiqua" panose="02040602050305030304" pitchFamily="18" charset="0"/>
                        </a:rPr>
                        <a:t>Response time: 2s; No identification; False trigger rate: 8%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77080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NI Tushar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ook Antiqua" panose="02040602050305030304" pitchFamily="18" charset="0"/>
                        </a:rPr>
                        <a:t>Vehicle Number Plate Detection Using Image Processing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OpenCV,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ook Antiqua" panose="02040602050305030304" pitchFamily="18" charset="0"/>
                        </a:rPr>
                        <a:t>Accuracy: 72%; Lighting sensitivity; Processing time: 1.5s/image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775530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S. </a:t>
                      </a:r>
                      <a:r>
                        <a:rPr lang="en-IN" sz="1600" dirty="0" err="1">
                          <a:latin typeface="Book Antiqua" panose="02040602050305030304" pitchFamily="18" charset="0"/>
                        </a:rPr>
                        <a:t>Chandrappa</a:t>
                      </a:r>
                      <a:r>
                        <a:rPr lang="en-IN" sz="1600" dirty="0">
                          <a:latin typeface="Book Antiqua" panose="02040602050305030304" pitchFamily="18" charset="0"/>
                        </a:rPr>
                        <a:t>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IoT-Based Intelligent Toll Gate Using RFID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RFID, Rasp berry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ook Antiqua" panose="02040602050305030304" pitchFamily="18" charset="0"/>
                        </a:rPr>
                        <a:t>Detection ac curacy: 90%; Vulnerable to tag cloning; Avg. processing: 1s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79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049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1785-580A-AE6D-116D-D8268F2BC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5A8B-E973-9F03-8990-70ABF71D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Book Antiqua" panose="02040602050305030304" pitchFamily="18" charset="0"/>
              </a:rPr>
              <a:t>Comparative Study with Existing Work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22AD5-EE46-9CBE-319E-D9EC024F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802FF-081F-D012-293D-5D411272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18D3A-6B8E-65B0-895B-CE599E3E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697B39C-7CDC-E62B-3CBF-F1916E107F6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17319890"/>
              </p:ext>
            </p:extLst>
          </p:nvPr>
        </p:nvGraphicFramePr>
        <p:xfrm>
          <a:off x="150813" y="1485900"/>
          <a:ext cx="8869360" cy="484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872">
                  <a:extLst>
                    <a:ext uri="{9D8B030D-6E8A-4147-A177-3AD203B41FA5}">
                      <a16:colId xmlns:a16="http://schemas.microsoft.com/office/drawing/2014/main" val="1059224843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115333911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1866652000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2769010898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4032216929"/>
                    </a:ext>
                  </a:extLst>
                </a:gridCol>
              </a:tblGrid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Book Antiqua" panose="02040602050305030304" pitchFamily="18" charset="0"/>
                        </a:rPr>
                        <a:t>Performance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381631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Saurabh Charde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Automated Gate Entry Using Image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OpenCV, Tesseract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Book Antiqua" panose="02040602050305030304" pitchFamily="18" charset="0"/>
                        </a:rPr>
                        <a:t>Accuracy: 75% under normal conditions; drops below 60% with noise/angle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77080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Andre Calitz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License Plate Recognition Using Different Camera Angles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Multi-angle Image Pro 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Book Antiqua" panose="02040602050305030304" pitchFamily="18" charset="0"/>
                        </a:rPr>
                        <a:t>Flexibility </a:t>
                      </a:r>
                      <a:r>
                        <a:rPr lang="en-US" sz="1600" dirty="0" err="1">
                          <a:latin typeface="Book Antiqua" panose="02040602050305030304" pitchFamily="18" charset="0"/>
                        </a:rPr>
                        <a:t>im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 proved; Accuracy: 85%; Processing time: 2.5s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775530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Lijuan Liu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Image Recognition Using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CNN-based ML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Book Antiqua" panose="02040602050305030304" pitchFamily="18" charset="0"/>
                        </a:rPr>
                        <a:t>Accuracy: 92%(after training); Inference time: 1.8s;Requires large dataset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79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127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F2FD-CD7B-F790-3A1B-E2C150FB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0BB6-7B43-FCB0-39D7-E1D2D1E7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Book Antiqua" panose="02040602050305030304" pitchFamily="18" charset="0"/>
              </a:rPr>
              <a:t>Comparative Study with Existing Work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7164D-EE11-B926-C724-0A05FD99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A09C5-60AF-307A-6B3C-B14F78E4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E9E29-3DCE-AF6D-0BAA-8D058186A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759611C-AD92-1AB3-FDF8-622C28D4021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20523620"/>
              </p:ext>
            </p:extLst>
          </p:nvPr>
        </p:nvGraphicFramePr>
        <p:xfrm>
          <a:off x="137320" y="2226890"/>
          <a:ext cx="8869360" cy="2465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872">
                  <a:extLst>
                    <a:ext uri="{9D8B030D-6E8A-4147-A177-3AD203B41FA5}">
                      <a16:colId xmlns:a16="http://schemas.microsoft.com/office/drawing/2014/main" val="1059224843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115333911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1866652000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2769010898"/>
                    </a:ext>
                  </a:extLst>
                </a:gridCol>
                <a:gridCol w="1773872">
                  <a:extLst>
                    <a:ext uri="{9D8B030D-6E8A-4147-A177-3AD203B41FA5}">
                      <a16:colId xmlns:a16="http://schemas.microsoft.com/office/drawing/2014/main" val="4032216929"/>
                    </a:ext>
                  </a:extLst>
                </a:gridCol>
              </a:tblGrid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Book Antiqua" panose="02040602050305030304" pitchFamily="18" charset="0"/>
                        </a:rPr>
                        <a:t>Performance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381631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Book Antiqua" panose="02040602050305030304" pitchFamily="18" charset="0"/>
                        </a:rPr>
                        <a:t>Proposed System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Book Antiqua" panose="02040602050305030304" pitchFamily="18" charset="0"/>
                        </a:rPr>
                        <a:t>Automatic Vehicle Entry Control System using Image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OpenCV,  Tesseract, ML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Book Antiqua" panose="02040602050305030304" pitchFamily="18" charset="0"/>
                        </a:rPr>
                        <a:t>Accuracy: </a:t>
                      </a:r>
                      <a:r>
                        <a:rPr lang="en-US" sz="1600" b="1" dirty="0">
                          <a:latin typeface="Book Antiqua" panose="02040602050305030304" pitchFamily="18" charset="0"/>
                        </a:rPr>
                        <a:t>95.6%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; Real time response: </a:t>
                      </a:r>
                      <a:r>
                        <a:rPr lang="en-US" sz="1600" b="1" dirty="0">
                          <a:latin typeface="Book Antiqua" panose="02040602050305030304" pitchFamily="18" charset="0"/>
                        </a:rPr>
                        <a:t>less than1s</a:t>
                      </a:r>
                      <a:r>
                        <a:rPr lang="en-US" sz="1600" dirty="0">
                          <a:latin typeface="Book Antiqua" panose="02040602050305030304" pitchFamily="18" charset="0"/>
                        </a:rPr>
                        <a:t>; Improved noise tolerance and angle handling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77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69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1A6D-E75B-73B9-C00C-E9D72D83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23D1-B47C-FB49-12F3-EDB928CD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Applications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790E0-67CB-A793-9421-D6B3B640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DD4F3-046E-11DF-CAE4-77E65B8D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A8459-9495-1BD0-DFDE-9AD25956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533D6-3545-2D09-B05D-2CC6B0C148E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44220" y="1832598"/>
            <a:ext cx="8655560" cy="382559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/>
              <a:t>Highway Toll Plazas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/>
              <a:t>Parking Facilities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/>
              <a:t>Private Community Gates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/>
              <a:t>Commercial Building Access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/>
              <a:t>Smart Cities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/>
              <a:t>Industrial Complexes</a:t>
            </a:r>
          </a:p>
          <a:p>
            <a:pPr marL="342900" lvl="0" indent="-342900" algn="l">
              <a:lnSpc>
                <a:spcPct val="107000"/>
              </a:lnSpc>
              <a:buFont typeface="+mj-lt"/>
              <a:buAutoNum type="arabicPeriod"/>
            </a:pPr>
            <a:r>
              <a:rPr lang="en-IN" sz="1800" dirty="0"/>
              <a:t>Event Management</a:t>
            </a:r>
          </a:p>
        </p:txBody>
      </p:sp>
    </p:spTree>
    <p:extLst>
      <p:ext uri="{BB962C8B-B14F-4D97-AF65-F5344CB8AC3E}">
        <p14:creationId xmlns:p14="http://schemas.microsoft.com/office/powerpoint/2010/main" val="1998329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CCDE8-FF85-B710-3E78-5049AB21C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0752-20F2-C675-6B83-7EBE6469C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ook Antiqua" panose="02040602050305030304" pitchFamily="18" charset="0"/>
              </a:rPr>
              <a:t>Performance Evaluation of License Plate Recognition System</a:t>
            </a:r>
            <a:endParaRPr lang="en-IN" sz="28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1EAE8-4D03-281F-2A3D-6E2CCBDF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16466-EA08-2E8C-5F2D-A584A63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A9867-EB91-1434-C87E-C687C152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61B6F3F-4A3B-7BD7-EAB7-D38185AB599D}"/>
                  </a:ext>
                </a:extLst>
              </p:cNvPr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4209151743"/>
                  </p:ext>
                </p:extLst>
              </p:nvPr>
            </p:nvGraphicFramePr>
            <p:xfrm>
              <a:off x="150813" y="1485900"/>
              <a:ext cx="8869362" cy="43115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34681">
                      <a:extLst>
                        <a:ext uri="{9D8B030D-6E8A-4147-A177-3AD203B41FA5}">
                          <a16:colId xmlns:a16="http://schemas.microsoft.com/office/drawing/2014/main" val="1351196796"/>
                        </a:ext>
                      </a:extLst>
                    </a:gridCol>
                    <a:gridCol w="4434681">
                      <a:extLst>
                        <a:ext uri="{9D8B030D-6E8A-4147-A177-3AD203B41FA5}">
                          <a16:colId xmlns:a16="http://schemas.microsoft.com/office/drawing/2014/main" val="37220980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Value/Description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5901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Development Tools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Python, OpenCV, </a:t>
                          </a:r>
                          <a:r>
                            <a:rPr lang="en-IN" sz="1600" dirty="0" err="1">
                              <a:latin typeface="Book Antiqua" panose="02040602050305030304" pitchFamily="18" charset="0"/>
                            </a:rPr>
                            <a:t>EasyOCR</a:t>
                          </a:r>
                          <a:endParaRPr lang="en-IN" sz="1600" dirty="0">
                            <a:latin typeface="Book Antiqua" panose="0204060205030503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769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Input Source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Real-time webcam (720p resolution)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609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Sample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100 license plate images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192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Correct Predictions (Characters)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478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7272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Total Predictions (Characters)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500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4948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False Positives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225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True Positives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470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7186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Accuracy 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tr-TR" sz="16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𝐴𝑐𝑐𝑢𝑟𝑎𝑐𝑦</m:t>
                                </m:r>
                                <m:r>
                                  <a:rPr kumimoji="0" lang="tr-TR" sz="16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IN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𝐶𝑜𝑟𝑟𝑒𝑐𝑡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𝑃𝑟𝑒𝑑𝑖𝑐𝑡𝑖𝑜𝑛𝑠</m:t>
                                    </m:r>
                                  </m:num>
                                  <m:den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𝑇𝑜𝑡𝑙𝑒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𝑃𝑟𝑒𝑑𝑖𝑐𝑡𝑖𝑜𝑛𝑠</m:t>
                                    </m:r>
                                  </m:den>
                                </m:f>
                                <m:r>
                                  <a:rPr kumimoji="0" lang="tr-TR" sz="16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tr-TR" sz="16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𝑋</m:t>
                                </m:r>
                                <m:r>
                                  <a:rPr kumimoji="0" lang="tr-TR" sz="16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100</m:t>
                                </m:r>
                              </m:oMath>
                            </m:oMathPara>
                          </a14:m>
                          <a:endParaRPr lang="en-IN" sz="1600" dirty="0">
                            <a:latin typeface="Book Antiqua" panose="0204060205030503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3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Precision 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tr-TR" sz="16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𝑃𝑟𝑒𝑐𝑖𝑠𝑖𝑜𝑛</m:t>
                                </m:r>
                                <m:r>
                                  <a:rPr kumimoji="0" lang="tr-TR" sz="16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IN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𝑇𝑟𝑢𝑒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𝑃𝑜𝑠𝑖𝑡𝑖𝑣𝑒𝑠</m:t>
                                    </m:r>
                                  </m:num>
                                  <m:den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𝑇𝑟𝑢𝑒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𝑃𝑜𝑠𝑖𝑡𝑖𝑣𝑒𝑠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𝐹𝑎𝑙𝑠𝑒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tr-TR" sz="16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𝑃𝑜𝑠𝑖𝑡𝑖𝑣𝑒𝑠</m:t>
                                    </m:r>
                                  </m:den>
                                </m:f>
                                <m:r>
                                  <a:rPr kumimoji="0" lang="tr-TR" sz="16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tr-TR" sz="16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𝑋</m:t>
                                </m:r>
                                <m:r>
                                  <a:rPr kumimoji="0" lang="tr-TR" sz="16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100</m:t>
                                </m:r>
                              </m:oMath>
                            </m:oMathPara>
                          </a14:m>
                          <a:endParaRPr lang="en-IN" sz="1600" dirty="0">
                            <a:latin typeface="Book Antiqua" panose="0204060205030503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55837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61B6F3F-4A3B-7BD7-EAB7-D38185AB599D}"/>
                  </a:ext>
                </a:extLst>
              </p:cNvPr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4209151743"/>
                  </p:ext>
                </p:extLst>
              </p:nvPr>
            </p:nvGraphicFramePr>
            <p:xfrm>
              <a:off x="150813" y="1485900"/>
              <a:ext cx="8869362" cy="43115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34681">
                      <a:extLst>
                        <a:ext uri="{9D8B030D-6E8A-4147-A177-3AD203B41FA5}">
                          <a16:colId xmlns:a16="http://schemas.microsoft.com/office/drawing/2014/main" val="1351196796"/>
                        </a:ext>
                      </a:extLst>
                    </a:gridCol>
                    <a:gridCol w="4434681">
                      <a:extLst>
                        <a:ext uri="{9D8B030D-6E8A-4147-A177-3AD203B41FA5}">
                          <a16:colId xmlns:a16="http://schemas.microsoft.com/office/drawing/2014/main" val="37220980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Value/Description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5901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Development Tools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Python, OpenCV, </a:t>
                          </a:r>
                          <a:r>
                            <a:rPr lang="en-IN" sz="1600" dirty="0" err="1">
                              <a:latin typeface="Book Antiqua" panose="02040602050305030304" pitchFamily="18" charset="0"/>
                            </a:rPr>
                            <a:t>EasyOCR</a:t>
                          </a:r>
                          <a:endParaRPr lang="en-IN" sz="1600" dirty="0">
                            <a:latin typeface="Book Antiqua" panose="0204060205030503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769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Input Source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Real-time webcam (720p resolution)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609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Sample Size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100 license plate images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192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Correct Predictions (Characters)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478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7272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Total Predictions (Characters)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500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4948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False Positives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225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True Positives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470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7186987"/>
                      </a:ext>
                    </a:extLst>
                  </a:tr>
                  <a:tr h="554482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Accuracy 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37" t="-538462" r="-549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63015"/>
                      </a:ext>
                    </a:extLst>
                  </a:tr>
                  <a:tr h="790321">
                    <a:tc>
                      <a:txBody>
                        <a:bodyPr/>
                        <a:lstStyle/>
                        <a:p>
                          <a:r>
                            <a:rPr lang="en-IN" sz="1600" dirty="0">
                              <a:latin typeface="Book Antiqua" panose="02040602050305030304" pitchFamily="18" charset="0"/>
                            </a:rPr>
                            <a:t>Precision 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37" t="-446923" r="-549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55837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987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6106-BB38-577F-49BD-1BE9E0D1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2E39-C754-3CA1-D04A-BD785A8C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ook Antiqua" panose="02040602050305030304" pitchFamily="18" charset="0"/>
              </a:rPr>
              <a:t>Performance Evaluation of License Plate Recognition System</a:t>
            </a:r>
            <a:endParaRPr lang="en-IN" sz="2800" dirty="0">
              <a:latin typeface="Book Antiqua" panose="0204060205030503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25095-B278-8615-566B-B529E969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A5BA4-E929-1C96-E7C3-939F14A6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25D89-901B-D98C-4365-334078F4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65A2B8-068D-D03A-ADE7-A6EC6497E739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05533281"/>
              </p:ext>
            </p:extLst>
          </p:nvPr>
        </p:nvGraphicFramePr>
        <p:xfrm>
          <a:off x="137319" y="2283460"/>
          <a:ext cx="8869362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681">
                  <a:extLst>
                    <a:ext uri="{9D8B030D-6E8A-4147-A177-3AD203B41FA5}">
                      <a16:colId xmlns:a16="http://schemas.microsoft.com/office/drawing/2014/main" val="1351196796"/>
                    </a:ext>
                  </a:extLst>
                </a:gridCol>
                <a:gridCol w="4434681">
                  <a:extLst>
                    <a:ext uri="{9D8B030D-6E8A-4147-A177-3AD203B41FA5}">
                      <a16:colId xmlns:a16="http://schemas.microsoft.com/office/drawing/2014/main" val="3722098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Value/Description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Highlighted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ook Antiqua" panose="02040602050305030304" pitchFamily="18" charset="0"/>
                        </a:rPr>
                        <a:t>Detected text (e.g., MH 37 CF 4902) is outlined in green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6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Validation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ook Antiqua" panose="02040602050305030304" pitchFamily="18" charset="0"/>
                        </a:rPr>
                        <a:t>Confidence scores shown in terminal for each character (e.g., “T”– 99.3%, “N”– 98.7%)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609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Book Antiqua" panose="02040602050305030304" pitchFamily="18" charset="0"/>
                        </a:rPr>
                        <a:t>Storage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ook Antiqua" panose="02040602050305030304" pitchFamily="18" charset="0"/>
                        </a:rPr>
                        <a:t>Captured and processed images stored in: /results/license plates/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9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623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CF28-EC93-F488-2594-DB6FC567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D9-DDA3-EE0E-13FB-BC8FC60EC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Analysis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0E6BA-3195-09C4-A82A-34BFF0E8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063B7-21FC-E233-8376-6B381C9E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34312-F250-DF27-C290-D9D23512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90E962-6B91-7C65-2484-7FE3CABE442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22" y="1348925"/>
            <a:ext cx="8320755" cy="4992453"/>
          </a:xfrm>
        </p:spPr>
      </p:pic>
    </p:spTree>
    <p:extLst>
      <p:ext uri="{BB962C8B-B14F-4D97-AF65-F5344CB8AC3E}">
        <p14:creationId xmlns:p14="http://schemas.microsoft.com/office/powerpoint/2010/main" val="2157806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BE8D-C128-0ACC-5984-B1C1558B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44CDB-F955-40DB-4C95-60C6F1DE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Analysis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D2986-29C4-FCC8-7FC8-7DE3E315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64CBE-3EF0-A2BF-1A80-E576A5A1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198D3-E1E8-3DB3-D3C6-9935E160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65E968D-42A0-243F-D61E-29942C3676B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14" y="1485900"/>
            <a:ext cx="7988959" cy="4754563"/>
          </a:xfrm>
        </p:spPr>
      </p:pic>
    </p:spTree>
    <p:extLst>
      <p:ext uri="{BB962C8B-B14F-4D97-AF65-F5344CB8AC3E}">
        <p14:creationId xmlns:p14="http://schemas.microsoft.com/office/powerpoint/2010/main" val="2939045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0485-45B7-49BE-9814-5D992A59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Advantages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7F611-4CDC-5AD2-825B-17CE5A29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41884-BAA3-14E4-0A5F-3910820D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F1BD3-8220-5547-DF43-0C47F9F0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632A9-A013-D623-D77D-AE704F1ABE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5840" y="2510793"/>
            <a:ext cx="7132320" cy="2431092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b="1" dirty="0"/>
              <a:t>Enhanced Security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b="1" dirty="0"/>
              <a:t>Automated Secured Access to vehicles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b="1" dirty="0"/>
              <a:t>Real-Time Database Management</a:t>
            </a:r>
            <a:endParaRPr lang="en-IN" sz="1800" dirty="0"/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b="1" dirty="0"/>
              <a:t>Improved Traffic Flow</a:t>
            </a:r>
          </a:p>
        </p:txBody>
      </p:sp>
    </p:spTree>
    <p:extLst>
      <p:ext uri="{BB962C8B-B14F-4D97-AF65-F5344CB8AC3E}">
        <p14:creationId xmlns:p14="http://schemas.microsoft.com/office/powerpoint/2010/main" val="1679406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0BDD-F9F0-A3ED-F89B-1E803905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95E6B-9904-5E6A-1655-4658099C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A1B1E-AC3E-6305-DA05-C54A9BA3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8EC5B-CB0A-7C5C-1FC7-01F96C90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E3A8A-3EFF-0E4A-ECE1-977E1328795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991" y="1954963"/>
            <a:ext cx="8624018" cy="391548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The project successfully automates vehicle entry and toll collection using a combination of image processing and database management. The system is scalable and adaptable for future enhancements, offering a reliable solution for modern access control needs.</a:t>
            </a:r>
          </a:p>
        </p:txBody>
      </p:sp>
    </p:spTree>
    <p:extLst>
      <p:ext uri="{BB962C8B-B14F-4D97-AF65-F5344CB8AC3E}">
        <p14:creationId xmlns:p14="http://schemas.microsoft.com/office/powerpoint/2010/main" val="555913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0BDD-F9F0-A3ED-F89B-1E803905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168" y="160006"/>
            <a:ext cx="7132320" cy="100584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Future Scope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95E6B-9904-5E6A-1655-4658099C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A1B1E-AC3E-6305-DA05-C54A9BA3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8EC5B-CB0A-7C5C-1FC7-01F96C90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F8959CC-5BCD-E32C-F820-ACE75E82EE9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779144" y="2126102"/>
            <a:ext cx="7585712" cy="275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/>
              <a:t>Energy Efficiency :  </a:t>
            </a:r>
            <a:r>
              <a:rPr lang="en-US" altLang="en-US" sz="1800" dirty="0"/>
              <a:t>Solar-powered options for remote installations.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/>
              <a:t>Integration with RFID : </a:t>
            </a:r>
            <a:r>
              <a:rPr lang="en-US" altLang="en-US" sz="1800" dirty="0"/>
              <a:t>For dual authentication methods.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/>
              <a:t>Enhanced Image Processing : </a:t>
            </a:r>
            <a:r>
              <a:rPr lang="en-US" altLang="en-US" sz="1800" dirty="0"/>
              <a:t>Implement AI-driven image recognition for higher accuracy.</a:t>
            </a:r>
          </a:p>
        </p:txBody>
      </p:sp>
    </p:spTree>
    <p:extLst>
      <p:ext uri="{BB962C8B-B14F-4D97-AF65-F5344CB8AC3E}">
        <p14:creationId xmlns:p14="http://schemas.microsoft.com/office/powerpoint/2010/main" val="1279439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E&amp;TC, SCOE,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523264" y="1586498"/>
            <a:ext cx="7649720" cy="4754880"/>
          </a:xfrm>
        </p:spPr>
        <p:txBody>
          <a:bodyPr>
            <a:normAutofit fontScale="925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/>
              <a:t>[1] P. Gaikwad, “Automatic gate opening system,” International Journal of Re search Publication and Reviews, vol. 5, no. 4, pp. 123–127, April 2024.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/>
              <a:t>[2] N. I. Tushar, “Vehicle number plate detection system using image process </a:t>
            </a:r>
            <a:r>
              <a:rPr lang="en-IN" sz="1800" dirty="0" err="1"/>
              <a:t>ing</a:t>
            </a:r>
            <a:r>
              <a:rPr lang="en-IN" sz="1800" dirty="0"/>
              <a:t> approach,” in Proc. IEEE Int. Conf. </a:t>
            </a:r>
            <a:r>
              <a:rPr lang="en-IN" sz="1800" dirty="0" err="1"/>
              <a:t>Comput</a:t>
            </a:r>
            <a:r>
              <a:rPr lang="en-IN" sz="1800" dirty="0"/>
              <a:t>. Commun. </a:t>
            </a:r>
            <a:r>
              <a:rPr lang="en-IN" sz="1800" dirty="0" err="1"/>
              <a:t>Netw</a:t>
            </a:r>
            <a:r>
              <a:rPr lang="en-IN" sz="1800" dirty="0"/>
              <a:t>. Technol. (ICCCNT), vol. 14. IEEE, July 2023, pp. 240–245.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/>
              <a:t>[3] S. </a:t>
            </a:r>
            <a:r>
              <a:rPr lang="en-IN" sz="1800" dirty="0" err="1"/>
              <a:t>Chandrappa</a:t>
            </a:r>
            <a:r>
              <a:rPr lang="en-IN" sz="1800" dirty="0"/>
              <a:t>, “An </a:t>
            </a:r>
            <a:r>
              <a:rPr lang="en-IN" sz="1800" dirty="0" err="1"/>
              <a:t>iot</a:t>
            </a:r>
            <a:r>
              <a:rPr lang="en-IN" sz="1800" dirty="0"/>
              <a:t>-based automotive and intelligent toll gate using </a:t>
            </a:r>
            <a:r>
              <a:rPr lang="en-IN" sz="1800" dirty="0" err="1"/>
              <a:t>rfid</a:t>
            </a:r>
            <a:r>
              <a:rPr lang="en-IN" sz="1800" dirty="0"/>
              <a:t>,” Lecture Notes in Electrical Engineering, vol. 853, pp. 112–118, December 2022.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/>
              <a:t>[4] S. Charde, “Automated gate for vehicular entry using image processing,” In </a:t>
            </a:r>
            <a:r>
              <a:rPr lang="en-IN" sz="1800" dirty="0" err="1"/>
              <a:t>ternational</a:t>
            </a:r>
            <a:r>
              <a:rPr lang="en-IN" sz="1800" dirty="0"/>
              <a:t> Research Journal of Engineering and Technology (IRJET), vol. 7, no. 3, pp. 88–93, March 2020.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/>
              <a:t>[5] A. Das, “Deep learning-based automatic toll collection system,” in Proc. IEEE Int. Conf. </a:t>
            </a:r>
            <a:r>
              <a:rPr lang="en-IN" sz="1800" dirty="0" err="1"/>
              <a:t>Intell</a:t>
            </a:r>
            <a:r>
              <a:rPr lang="en-IN" sz="1800" dirty="0"/>
              <a:t>. Transp. Syst. (ITSC). IEEE, September 2020, pp. 1525 1530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514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A9167-A398-01C3-065A-318BC229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2C1F2-809E-7EA7-9C96-064269B7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3126A-FC48-D4FB-F30F-3664B215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39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46DFA-145E-3C81-917D-5AD9B22741FC}"/>
              </a:ext>
            </a:extLst>
          </p:cNvPr>
          <p:cNvSpPr txBox="1"/>
          <p:nvPr/>
        </p:nvSpPr>
        <p:spPr>
          <a:xfrm>
            <a:off x="981182" y="2373330"/>
            <a:ext cx="7181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accent1"/>
                </a:solidFill>
                <a:latin typeface="Book Antiqua" panose="02040602050305030304" pitchFamily="18" charset="0"/>
                <a:ea typeface="+mj-ea"/>
                <a:cs typeface="+mj-cs"/>
              </a:rPr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3031739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A9167-A398-01C3-065A-318BC229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2024-25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2C1F2-809E-7EA7-9C96-064269B7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Dept. of E&amp;TC, SCOE, Pune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3126A-FC48-D4FB-F30F-3664B215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40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46DFA-145E-3C81-917D-5AD9B22741FC}"/>
              </a:ext>
            </a:extLst>
          </p:cNvPr>
          <p:cNvSpPr txBox="1"/>
          <p:nvPr/>
        </p:nvSpPr>
        <p:spPr>
          <a:xfrm>
            <a:off x="981182" y="2373330"/>
            <a:ext cx="7181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rgbClr val="00B050"/>
                </a:solidFill>
                <a:latin typeface="Book Antiqua" panose="02040602050305030304" pitchFamily="18" charset="0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15085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4231</TotalTime>
  <Words>2499</Words>
  <Application>Microsoft Office PowerPoint</Application>
  <PresentationFormat>On-screen Show (4:3)</PresentationFormat>
  <Paragraphs>438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Arial</vt:lpstr>
      <vt:lpstr>Arial Rounded MT Bold</vt:lpstr>
      <vt:lpstr>Book Antiqua</vt:lpstr>
      <vt:lpstr>Calibri</vt:lpstr>
      <vt:lpstr>Cambria Math</vt:lpstr>
      <vt:lpstr>Courier New</vt:lpstr>
      <vt:lpstr>Franklin Gothic Book</vt:lpstr>
      <vt:lpstr>Garamond</vt:lpstr>
      <vt:lpstr>Georgia</vt:lpstr>
      <vt:lpstr>Perpetua</vt:lpstr>
      <vt:lpstr>Symbol</vt:lpstr>
      <vt:lpstr>Times New Roman</vt:lpstr>
      <vt:lpstr>Wingdings 2</vt:lpstr>
      <vt:lpstr>Equity</vt:lpstr>
      <vt:lpstr>Automatic Vehicle Entry Control System using Image Processing</vt:lpstr>
      <vt:lpstr>Contents</vt:lpstr>
      <vt:lpstr>Introduction</vt:lpstr>
      <vt:lpstr>Problem Statement</vt:lpstr>
      <vt:lpstr>Aim &amp; Objectives</vt:lpstr>
      <vt:lpstr>Literature Survey</vt:lpstr>
      <vt:lpstr>Literature Survey</vt:lpstr>
      <vt:lpstr>Literature Survey</vt:lpstr>
      <vt:lpstr>Literature Survey</vt:lpstr>
      <vt:lpstr>Block Diagram</vt:lpstr>
      <vt:lpstr>Block Diagram</vt:lpstr>
      <vt:lpstr>Flowchart</vt:lpstr>
      <vt:lpstr>Selection Criteria of Components</vt:lpstr>
      <vt:lpstr>Components with Specifications</vt:lpstr>
      <vt:lpstr>Components with Specifications</vt:lpstr>
      <vt:lpstr>Components with Specifications</vt:lpstr>
      <vt:lpstr>Components with Specifications</vt:lpstr>
      <vt:lpstr>Components with Specifications</vt:lpstr>
      <vt:lpstr>Components with Specifications</vt:lpstr>
      <vt:lpstr>Components with Specifications</vt:lpstr>
      <vt:lpstr>Simulation</vt:lpstr>
      <vt:lpstr>Results</vt:lpstr>
      <vt:lpstr>Results</vt:lpstr>
      <vt:lpstr>Results</vt:lpstr>
      <vt:lpstr>Results</vt:lpstr>
      <vt:lpstr>Results</vt:lpstr>
      <vt:lpstr>Comparative Study with Existing Work</vt:lpstr>
      <vt:lpstr>Comparative Study with Existing Work</vt:lpstr>
      <vt:lpstr>Comparative Study with Existing Work</vt:lpstr>
      <vt:lpstr>Applications</vt:lpstr>
      <vt:lpstr>Performance Evaluation of License Plate Recognition System</vt:lpstr>
      <vt:lpstr>Performance Evaluation of License Plate Recognition System</vt:lpstr>
      <vt:lpstr>Analysis</vt:lpstr>
      <vt:lpstr>Analysis</vt:lpstr>
      <vt:lpstr>Advantages</vt:lpstr>
      <vt:lpstr>Conclusion</vt:lpstr>
      <vt:lpstr>Future Scope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Apeksha Takawane</dc:creator>
  <cp:lastModifiedBy>Vyankatesh Vibhute</cp:lastModifiedBy>
  <cp:revision>313</cp:revision>
  <cp:lastPrinted>2024-11-07T13:27:46Z</cp:lastPrinted>
  <dcterms:created xsi:type="dcterms:W3CDTF">2014-09-16T21:34:04Z</dcterms:created>
  <dcterms:modified xsi:type="dcterms:W3CDTF">2025-06-11T14:22:43Z</dcterms:modified>
</cp:coreProperties>
</file>